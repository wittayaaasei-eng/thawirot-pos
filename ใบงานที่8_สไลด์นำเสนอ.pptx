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[นายวิทยา] สวัสดีครับอาจารย์ กลุ่มที่ 1 หัวข้อ AI Coding Assistant วันนี้จะนำเสนอระบบขายหน้าร้าน (POS) ของตลาดสดทวีโรจน์ ที่พัฒนาโดยใช้ AI Coding Assistant ช่วย ตามหัวข้อใบงานที่ 8 มี 5 ส่วน (ประมาณ 15 วินาที)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[นายวิทยา] การนำเสนอแบ่งเป็น 5 หัวข้อตามใบงานที่ 8 คือ ปัญหาที่เลือก เทคโนโลยีที่ศึกษา Prototype Demo และถาม–ตอบ ใช้เวลารวม 15 นาที (ประมาณ 15 วินาที)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[นายวิทยา] ปัญหาที่เราเลือกคือการคิดเงินในตลาดสด ซึ่งยังใช้มือหรือเครื่องคิดเลข ทำให้เกิด 3 ปัญหา: ช้า ผิดพลาด และสต็อกไม่ตรง ร้านค้าเล็กไม่มีงบจ้างโปรแกรมเมอร์ เราจึงสนใจว่า AI Coding Assistant จะช่วยให้สร้างระบบแบบนี้ได้เร็วและถูกลงไหม (ประมาณ 1 นาที)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[นายวิทยา] AI Coding Assistant คือ AI ที่ใช้ LLM ช่วยเขียนโค้ดจากคำสั่งภาษาคน เราศึกษา ChatGPT, Copilot และ Codex โดยโครงงานนี้ใช้ ChatGPT เป็นหลัก จากงานวิจัยที่ทบทวน 20 แหล่ง: ด้านดี Copilot ทำให้งานเสร็จเร็วขึ้น 55.8% ด้านเสีย ประมาณ 40% ของโค้ดที่ AI สร้างมีช่องโหว่ และนักพัฒนา 84% ใช้ AI แต่ 46% ไม่ไว้ใจผลลัพธ์ ข้อสรุปคือ AI ช่วยได้ แต่เราต้องตรวจสอบเอง ซึ่งเป็นแนวทางที่เราใช้ทำโครงงาน (ประมาณ 1 นาที 15 วินาที)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[นายวิทยา] วิธีที่เราใช้ AI เป็นวงรอบ 4 ขั้น: เขียน Prompt ให้ชัด, อ่านและให้ AI อธิบายจนเราอธิบายเองได้, ทดสอบ, และแก้ไข ตัวอย่างเช่น Prompt ขอให้เขียน PHP ตัดสต็อกด้วย Transaction AI ช่วยร่างโค้ดและโครงสร้าง แต่ requirement ฐานข้อมูล และการทดสอบเราทำเอง ต่อไปนายภคพลจะเล่าถึงระบบที่ได้ครับ (ประมาณ 1 นาที)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[นายภคพล] นี่คือหน้าจอจริงของระบบ ฝั่งซ้ายเป็นการ์ดสินค้า คลิกแทนการสแกนบาร์โค้ด ฝั่งขวาเป็นตะกร้า ฟังก์ชันหลักมี 6 อย่าง: สแกนสินค้า ตรวจสต็อก คำนวณยอด ลบรายการ ออกใบเสร็จพร้อมบาทเป็นคำ และตัดสต็อกในฐานข้อมูล (ประมาณ 40 วินาที)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[นายภคพล] ระบบเป็นสถาปัตยกรรม 3 ชั้น: ชั้นแรกหน้าเว็บ JavaScript แยก 5 โมดูล main เป็นตัวควบคุม cart เก็บตะกร้า ui วาดหน้าจอ api คุยกับเซิร์ฟเวอร์ utils แปลงเงิน ชั้นที่สอง PHP 2 ไฟล์เป็น API รับส่ง JSON ชั้นที่สาม MySQL ตาราง products เลือก XAMPP เพราะฟรี รันบนเครื่องเดียวในร้านได้ และ PHP/MySQL ใช้กับ hosting ราคาถูกได้ (ประมาณ 1 นาที)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[นายภคพล] จุดที่เป็น Technical Depth คือการตัดสต็อก ใช้ Transaction ถ้าบิลมี 5 รายการแล้วรายการที่ 3 พัง ทั้งบิลจะ rollback ไม่มีสต็อกค้างครึ่งๆ ใช้ Prepared Statement กัน SQL Injection และเงื่อนไข stock &gt;= ? กันสต็อกติดลบ ตรวจ affected_rows ถ้าเป็น 0 แปลว่าของไม่พอ รวมแล้วตรวจสต็อก 3 ชั้น คือหน้าเว็บ PHP และฐานข้อมูล ต่อไปจะสาธิตระบบจริงครับ (ประมาณ 1 นาที 15 วินาที) ⏱ ถึงตรงนี้ควรใช้เวลาไม่เกิน 6 นาที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[สลับไปหน้าเว็บ http://localhost/thawirot-pos/] ดูสคริปต์ Demo อย่างละเอียดในเอกสารใบงานที่ 8 / ขั้น 1–4: นายวิทยา พูด นายภคพล คลิก / ขั้น 5–7: นายภคพล พูด นายวิทยา คลิก ถ้าระบบมีปัญหา: MySQL ล่ม หน้าเว็บจะเข้าโหมดสาธิตเอง (แถบสีเหลือง) ยังสาธิตได้ / ถ้าเปิดไม่ได้เลย เปิด backup/Fallback_Demo_Video.mp4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[นายวิทยา] ผลการทดสอบ: System Test บน XAMPP จริง 15 กรณีผ่านทั้งหมด รวมถึงกรณีที่บิลมีสินค้าไม่พอแล้วระบบ rollback ทั้งบิล และลองโจมตี SQL Injection Unit Test อัตโนมัติผ่าน 14 จาก 14 เพื่อนประเมินว่าใช้ง่าย ถูกต้อง เร็ว และมีประโยชน์ ข้อที่ติคือความสวยงาม ขาดสีชี้นำ ซึ่งเราปรับปรุงแล้วตามที่เห็นใน Demo (ประมาณ 40 วินาที)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[นายวิทยา] ตอนทดสอบเราเจอ Bug 4 จุด ที่สำคัญคือสต็อกในฐานข้อมูลติดลบได้ และฟังก์ชันบาทเป็นคำอ่าน 1 ล้านบาทเป็น หนึ่งบาทถ้วน ทุกจุดเป็นกรณีขอบที่ใช้งานปกติไม่เจอ ตรงกับงานวิจัยที่บอกว่าต้องตรวจสอบโค้ดจาก AI เราจึงเขียนชุดทดสอบไว้รันซ้ำ (ประมาณ 50 วินาที)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[นายภคพล] ข้อจำกัดที่เรารู้: ยังจำลองการสแกน ยังไม่เก็บประวัติการขาย ตัดสต็อกตอนปิดใบเสร็จ และยังไม่มี Login แนวทางต่อคือรองรับเครื่องสแกนจริง ซึ่งเครื่องสแกน USB ทำงานเหมือนคีย์บอร์ด จึงเพิ่มแค่ช่องรับรหัส เพิ่มตาราง sales สำหรับรายงาน และระบบทอนเงิน (ประมาณ 40 วินาที)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[นายภคพล] สรุป: ระบบแก้ปัญหาการคิดเงินในตลาดสดได้จริง AI ช่วยให้เราพัฒนาได้เร็ว แต่ก็เจอ Bug ที่ต้องตรวจเอง บทเรียนของกลุ่มคือ AI เป็นผู้ช่วยที่ดี แต่ผู้พัฒนาต้องเข้าใจและรับผิดชอบโค้ดเอง ขอบคุณครับ พร้อมรับคำถามครับ (ประมาณ 30 วินาที)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13–15 นาที: ถาม-ตอบ ดูคลังคำถาม-คำตอบ 20 ข้อในเอกสารใบงานที่ 8 และคู่มือเตรียมสอบ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image" Target="../media/image-12-10.png"/><Relationship Id="rId11" Type="http://schemas.openxmlformats.org/officeDocument/2006/relationships/image" Target="../media/image-12-11.png"/><Relationship Id="rId12" Type="http://schemas.openxmlformats.org/officeDocument/2006/relationships/image" Target="../media/image-12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wittayaaasei-eng/thawirot-pos" TargetMode="External"/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300" dirty="0">
                <a:solidFill>
                  <a:srgbClr val="95D5B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ใบงานที่ 8 นำเสนอผลงาน  ·  BBAIS219  ·  กลุ่ม 1 AI Coding Assistant</a:t>
            </a:r>
            <a:endParaRPr lang="th-TH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43000"/>
            <a:ext cx="5852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th-TH" altLang="en-US" sz="40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ระบบขายหน้าร้าน (POS)</a:t>
            </a:r>
            <a:endParaRPr lang="th-TH" sz="4000" dirty="0"/>
          </a:p>
          <a:p>
            <a:pPr indent="0" marL="0">
              <a:lnSpc>
                <a:spcPct val="95000"/>
              </a:lnSpc>
              <a:buNone/>
            </a:pPr>
            <a:r>
              <a:rPr lang="th-TH" altLang="en-US" sz="40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ตลาดสดทวีโรจน์</a:t>
            </a:r>
            <a:endParaRPr lang="th-TH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2608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2000" dirty="0">
                <a:solidFill>
                  <a:srgbClr val="95D5B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พัฒนาด้วยเทคโนโลยี AI Coding Assistant</a:t>
            </a:r>
            <a:endParaRPr lang="th-TH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977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200" dirty="0">
                <a:solidFill>
                  <a:srgbClr val="95D5B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ผู้นำเสนอ</a:t>
            </a:r>
            <a:endParaRPr lang="th-TH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4343400"/>
            <a:ext cx="420624" cy="420624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442" y="4452762"/>
            <a:ext cx="201900" cy="2019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207008" y="4398264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6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นายวิทยา</a:t>
            </a:r>
            <a:pPr indent="0" marL="0">
              <a:buNone/>
            </a:pPr>
            <a:r>
              <a:rPr lang="th-TH" altLang="en-US" sz="1600" dirty="0">
                <a:solidFill>
                  <a:srgbClr val="95D5B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   66541207018-7</a:t>
            </a:r>
            <a:endParaRPr lang="th-TH" sz="1600" dirty="0"/>
          </a:p>
        </p:txBody>
      </p:sp>
      <p:sp>
        <p:nvSpPr>
          <p:cNvPr id="9" name="Shape 6"/>
          <p:cNvSpPr/>
          <p:nvPr/>
        </p:nvSpPr>
        <p:spPr>
          <a:xfrm>
            <a:off x="640080" y="4910328"/>
            <a:ext cx="420624" cy="420624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442" y="5019690"/>
            <a:ext cx="201900" cy="2019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207008" y="4965192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6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นายภคพล วราสินธ์</a:t>
            </a:r>
            <a:pPr indent="0" marL="0">
              <a:buNone/>
            </a:pPr>
            <a:r>
              <a:rPr lang="th-TH" altLang="en-US" sz="1600" dirty="0">
                <a:solidFill>
                  <a:srgbClr val="95D5B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   66541207074-0</a:t>
            </a:r>
            <a:endParaRPr lang="th-TH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0080" y="6035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200" dirty="0">
                <a:solidFill>
                  <a:srgbClr val="95D5B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28 กันยายน 2569  ·  บธ.3-505</a:t>
            </a:r>
            <a:endParaRPr lang="th-TH" sz="1200" dirty="0"/>
          </a:p>
        </p:txBody>
      </p:sp>
      <p:sp>
        <p:nvSpPr>
          <p:cNvPr id="13" name="Shape 9"/>
          <p:cNvSpPr/>
          <p:nvPr/>
        </p:nvSpPr>
        <p:spPr>
          <a:xfrm>
            <a:off x="6647688" y="1024128"/>
            <a:ext cx="5084064" cy="2788439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5E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14" name="Image 2" descr="C:/หัวข้อพิเศษ/backup/img/01_pos_ma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1097280"/>
            <a:ext cx="4937760" cy="2642135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9390888" y="3172968"/>
            <a:ext cx="2478024" cy="2517996"/>
          </a:xfrm>
          <a:prstGeom prst="roundRect">
            <a:avLst>
              <a:gd name="adj" fmla="val 3690"/>
            </a:avLst>
          </a:prstGeom>
          <a:solidFill>
            <a:srgbClr val="FFFFFF"/>
          </a:solidFill>
          <a:ln w="12700">
            <a:solidFill>
              <a:srgbClr val="DDE5E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16" name="Image 3" descr="C:\Users\Sompong\AppData\Local\Temp\claude\c-------------\9c712c20-6e16-447e-a4dc-77eb0bcd1417\scratchpad\deck\receipt_cro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4040" y="3246120"/>
            <a:ext cx="2331720" cy="237169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300" b="1" dirty="0">
                <a:solidFill>
                  <a:srgbClr val="52B78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ใบงานที่ 8 นำเสนอผลงาน  ·  นำเสนอ 15 นาที</a:t>
            </a:r>
            <a:endParaRPr lang="th-TH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3200" b="1" dirty="0">
                <a:solidFill>
                  <a:srgbClr val="163A2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หัวข้อการนำเสนอ</a:t>
            </a:r>
            <a:endParaRPr lang="th-TH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000" dirty="0">
                <a:solidFill>
                  <a:srgbClr val="5F6B6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ผู้นำเสนอ: นายวิทยา</a:t>
            </a:r>
            <a:endParaRPr lang="th-TH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634472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th-TH" altLang="en-US" sz="1000" dirty="0">
                <a:solidFill>
                  <a:srgbClr val="5F6B6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 / 14</a:t>
            </a:r>
            <a:endParaRPr lang="th-TH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10908792" cy="786384"/>
          </a:xfrm>
          <a:prstGeom prst="roundRect">
            <a:avLst>
              <a:gd name="adj" fmla="val 13953"/>
            </a:avLst>
          </a:prstGeom>
          <a:solidFill>
            <a:srgbClr val="F7FAF8"/>
          </a:solidFill>
          <a:ln w="12700">
            <a:solidFill>
              <a:srgbClr val="DDE5E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1810512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altLang="en-US" sz="2600" b="1" dirty="0">
                <a:solidFill>
                  <a:srgbClr val="E76F5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</a:t>
            </a:r>
            <a:endParaRPr lang="th-TH" sz="2600" dirty="0"/>
          </a:p>
        </p:txBody>
      </p:sp>
      <p:sp>
        <p:nvSpPr>
          <p:cNvPr id="8" name="Shape 6"/>
          <p:cNvSpPr/>
          <p:nvPr/>
        </p:nvSpPr>
        <p:spPr>
          <a:xfrm>
            <a:off x="1417320" y="1828800"/>
            <a:ext cx="512064" cy="512064"/>
          </a:xfrm>
          <a:prstGeom prst="ellipse">
            <a:avLst/>
          </a:prstGeom>
          <a:solidFill>
            <a:srgbClr val="FDECE7"/>
          </a:solidFill>
          <a:ln w="12700">
            <a:solidFill>
              <a:srgbClr val="FDECE7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0457" y="1961937"/>
            <a:ext cx="245791" cy="245791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2148840" y="1819656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altLang="en-US" sz="2000" b="1" dirty="0">
                <a:solidFill>
                  <a:srgbClr val="163A2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ปัญหาที่เลือก</a:t>
            </a:r>
            <a:endParaRPr lang="th-TH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5212080" y="1819656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altLang="en-US" sz="1350" dirty="0">
                <a:solidFill>
                  <a:srgbClr val="1B1F2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คิดเงินด้วยมือในตลาดสด: ช้า ผิดพลาด สต็อกไม่ตรง</a:t>
            </a:r>
            <a:endParaRPr lang="th-TH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9464040" y="1819656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altLang="en-US" sz="1200" dirty="0">
                <a:solidFill>
                  <a:srgbClr val="5F6B6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สไลด์ 3</a:t>
            </a:r>
            <a:endParaRPr lang="th-TH" sz="1200" dirty="0"/>
          </a:p>
        </p:txBody>
      </p:sp>
      <p:sp>
        <p:nvSpPr>
          <p:cNvPr id="13" name="Shape 10"/>
          <p:cNvSpPr/>
          <p:nvPr/>
        </p:nvSpPr>
        <p:spPr>
          <a:xfrm>
            <a:off x="10424160" y="1911096"/>
            <a:ext cx="987552" cy="347472"/>
          </a:xfrm>
          <a:prstGeom prst="roundRect">
            <a:avLst>
              <a:gd name="adj" fmla="val 50000"/>
            </a:avLst>
          </a:prstGeom>
          <a:solidFill>
            <a:srgbClr val="FDECE7"/>
          </a:solidFill>
          <a:ln w="12700">
            <a:solidFill>
              <a:srgbClr val="FDECE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424160" y="1911096"/>
            <a:ext cx="987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1050" b="1" dirty="0">
                <a:solidFill>
                  <a:srgbClr val="E76F5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0–1 นาที</a:t>
            </a:r>
            <a:endParaRPr lang="th-TH" sz="1050" dirty="0"/>
          </a:p>
        </p:txBody>
      </p:sp>
      <p:sp>
        <p:nvSpPr>
          <p:cNvPr id="15" name="Shape 12"/>
          <p:cNvSpPr/>
          <p:nvPr/>
        </p:nvSpPr>
        <p:spPr>
          <a:xfrm>
            <a:off x="640080" y="2606040"/>
            <a:ext cx="10908792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DDE5E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8680" y="2724912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altLang="en-US" sz="2600" b="1" dirty="0">
                <a:solidFill>
                  <a:srgbClr val="2D6A4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</a:t>
            </a:r>
            <a:endParaRPr lang="th-TH" sz="2600" dirty="0"/>
          </a:p>
        </p:txBody>
      </p:sp>
      <p:sp>
        <p:nvSpPr>
          <p:cNvPr id="17" name="Shape 14"/>
          <p:cNvSpPr/>
          <p:nvPr/>
        </p:nvSpPr>
        <p:spPr>
          <a:xfrm>
            <a:off x="1417320" y="2743200"/>
            <a:ext cx="512064" cy="512064"/>
          </a:xfrm>
          <a:prstGeom prst="ellipse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0457" y="2876337"/>
            <a:ext cx="245791" cy="245791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2148840" y="2734056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altLang="en-US" sz="2000" b="1" dirty="0">
                <a:solidFill>
                  <a:srgbClr val="163A2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เทคโนโลยีที่ศึกษา</a:t>
            </a:r>
            <a:endParaRPr lang="th-TH" sz="2000" dirty="0"/>
          </a:p>
        </p:txBody>
      </p:sp>
      <p:sp>
        <p:nvSpPr>
          <p:cNvPr id="20" name="Text 16"/>
          <p:cNvSpPr txBox="1"/>
          <p:nvPr/>
        </p:nvSpPr>
        <p:spPr>
          <a:xfrm>
            <a:off x="5212080" y="2734056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altLang="en-US" sz="1350" dirty="0">
                <a:solidFill>
                  <a:srgbClr val="1B1F2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AI Coding Assistant: งานวิจัย และวิธีที่กลุ่มใช้ AI</a:t>
            </a:r>
            <a:endParaRPr lang="th-TH" sz="1350" dirty="0"/>
          </a:p>
        </p:txBody>
      </p:sp>
      <p:sp>
        <p:nvSpPr>
          <p:cNvPr id="21" name="Text 17"/>
          <p:cNvSpPr txBox="1"/>
          <p:nvPr/>
        </p:nvSpPr>
        <p:spPr>
          <a:xfrm>
            <a:off x="9464040" y="2734056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altLang="en-US" sz="1200" dirty="0">
                <a:solidFill>
                  <a:srgbClr val="5F6B6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สไลด์ 4–5</a:t>
            </a:r>
            <a:endParaRPr lang="th-TH" sz="1200" dirty="0"/>
          </a:p>
        </p:txBody>
      </p:sp>
      <p:sp>
        <p:nvSpPr>
          <p:cNvPr id="22" name="Shape 18"/>
          <p:cNvSpPr/>
          <p:nvPr/>
        </p:nvSpPr>
        <p:spPr>
          <a:xfrm>
            <a:off x="10424160" y="2825496"/>
            <a:ext cx="987552" cy="347472"/>
          </a:xfrm>
          <a:prstGeom prst="roundRect">
            <a:avLst>
              <a:gd name="adj" fmla="val 50000"/>
            </a:avLst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10424160" y="2825496"/>
            <a:ext cx="987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1050" b="1" dirty="0">
                <a:solidFill>
                  <a:srgbClr val="2D6A4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1–3.5 นาที</a:t>
            </a:r>
            <a:endParaRPr lang="th-TH" sz="1050" dirty="0"/>
          </a:p>
        </p:txBody>
      </p:sp>
      <p:sp>
        <p:nvSpPr>
          <p:cNvPr id="24" name="Shape 20"/>
          <p:cNvSpPr/>
          <p:nvPr/>
        </p:nvSpPr>
        <p:spPr>
          <a:xfrm>
            <a:off x="640080" y="3520440"/>
            <a:ext cx="10908792" cy="786384"/>
          </a:xfrm>
          <a:prstGeom prst="roundRect">
            <a:avLst>
              <a:gd name="adj" fmla="val 13953"/>
            </a:avLst>
          </a:prstGeom>
          <a:solidFill>
            <a:srgbClr val="F7FAF8"/>
          </a:solidFill>
          <a:ln w="12700">
            <a:solidFill>
              <a:srgbClr val="DDE5E0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868680" y="3639312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altLang="en-US" sz="2600" b="1" dirty="0">
                <a:solidFill>
                  <a:srgbClr val="2D6A4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</a:t>
            </a:r>
            <a:endParaRPr lang="th-TH" sz="2600" dirty="0"/>
          </a:p>
        </p:txBody>
      </p:sp>
      <p:sp>
        <p:nvSpPr>
          <p:cNvPr id="26" name="Shape 22"/>
          <p:cNvSpPr/>
          <p:nvPr/>
        </p:nvSpPr>
        <p:spPr>
          <a:xfrm>
            <a:off x="1417320" y="3657600"/>
            <a:ext cx="512064" cy="512064"/>
          </a:xfrm>
          <a:prstGeom prst="ellipse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0457" y="3790737"/>
            <a:ext cx="245791" cy="245791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2148840" y="3648456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altLang="en-US" sz="2000" b="1" dirty="0">
                <a:solidFill>
                  <a:srgbClr val="163A2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Prototype</a:t>
            </a:r>
            <a:endParaRPr lang="th-TH" sz="2000" dirty="0"/>
          </a:p>
        </p:txBody>
      </p:sp>
      <p:sp>
        <p:nvSpPr>
          <p:cNvPr id="29" name="Text 24"/>
          <p:cNvSpPr txBox="1"/>
          <p:nvPr/>
        </p:nvSpPr>
        <p:spPr>
          <a:xfrm>
            <a:off x="5212080" y="3648456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altLang="en-US" sz="1350" dirty="0">
                <a:solidFill>
                  <a:srgbClr val="1B1F2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ระบบที่พัฒนา สถาปัตยกรรม 3 ชั้น และกลไกตัดสต็อก</a:t>
            </a:r>
            <a:endParaRPr lang="th-TH" sz="1350" dirty="0"/>
          </a:p>
        </p:txBody>
      </p:sp>
      <p:sp>
        <p:nvSpPr>
          <p:cNvPr id="30" name="Text 25"/>
          <p:cNvSpPr txBox="1"/>
          <p:nvPr/>
        </p:nvSpPr>
        <p:spPr>
          <a:xfrm>
            <a:off x="9464040" y="3648456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altLang="en-US" sz="1200" dirty="0">
                <a:solidFill>
                  <a:srgbClr val="5F6B6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สไลด์ 6–8</a:t>
            </a:r>
            <a:endParaRPr lang="th-TH" sz="1200" dirty="0"/>
          </a:p>
        </p:txBody>
      </p:sp>
      <p:sp>
        <p:nvSpPr>
          <p:cNvPr id="31" name="Shape 26"/>
          <p:cNvSpPr/>
          <p:nvPr/>
        </p:nvSpPr>
        <p:spPr>
          <a:xfrm>
            <a:off x="10424160" y="3739896"/>
            <a:ext cx="987552" cy="347472"/>
          </a:xfrm>
          <a:prstGeom prst="roundRect">
            <a:avLst>
              <a:gd name="adj" fmla="val 50000"/>
            </a:avLst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10424160" y="3739896"/>
            <a:ext cx="987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1050" b="1" dirty="0">
                <a:solidFill>
                  <a:srgbClr val="2D6A4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3.5–6 นาที</a:t>
            </a:r>
            <a:endParaRPr lang="th-TH" sz="1050" dirty="0"/>
          </a:p>
        </p:txBody>
      </p:sp>
      <p:sp>
        <p:nvSpPr>
          <p:cNvPr id="33" name="Shape 28"/>
          <p:cNvSpPr/>
          <p:nvPr/>
        </p:nvSpPr>
        <p:spPr>
          <a:xfrm>
            <a:off x="640080" y="4434840"/>
            <a:ext cx="10908792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DDE5E0"/>
            </a:solidFill>
            <a:prstDash val="solid"/>
          </a:ln>
        </p:spPr>
      </p:sp>
      <p:sp>
        <p:nvSpPr>
          <p:cNvPr id="34" name="Text 29"/>
          <p:cNvSpPr txBox="1"/>
          <p:nvPr/>
        </p:nvSpPr>
        <p:spPr>
          <a:xfrm>
            <a:off x="868680" y="4553712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altLang="en-US" sz="2600" b="1" dirty="0">
                <a:solidFill>
                  <a:srgbClr val="2D6A4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4</a:t>
            </a:r>
            <a:endParaRPr lang="th-TH" sz="2600" dirty="0"/>
          </a:p>
        </p:txBody>
      </p:sp>
      <p:sp>
        <p:nvSpPr>
          <p:cNvPr id="35" name="Shape 30"/>
          <p:cNvSpPr/>
          <p:nvPr/>
        </p:nvSpPr>
        <p:spPr>
          <a:xfrm>
            <a:off x="1417320" y="4572000"/>
            <a:ext cx="512064" cy="512064"/>
          </a:xfrm>
          <a:prstGeom prst="ellipse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0457" y="4705137"/>
            <a:ext cx="245791" cy="245791"/>
          </a:xfrm>
          <a:prstGeom prst="rect">
            <a:avLst/>
          </a:prstGeom>
        </p:spPr>
      </p:pic>
      <p:sp>
        <p:nvSpPr>
          <p:cNvPr id="37" name="Text 31"/>
          <p:cNvSpPr txBox="1"/>
          <p:nvPr/>
        </p:nvSpPr>
        <p:spPr>
          <a:xfrm>
            <a:off x="2148840" y="4562856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altLang="en-US" sz="2000" b="1" dirty="0">
                <a:solidFill>
                  <a:srgbClr val="163A2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Demo</a:t>
            </a:r>
            <a:endParaRPr lang="th-TH" sz="2000" dirty="0"/>
          </a:p>
        </p:txBody>
      </p:sp>
      <p:sp>
        <p:nvSpPr>
          <p:cNvPr id="38" name="Text 32"/>
          <p:cNvSpPr txBox="1"/>
          <p:nvPr/>
        </p:nvSpPr>
        <p:spPr>
          <a:xfrm>
            <a:off x="5212080" y="4562856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altLang="en-US" sz="1350" dirty="0">
                <a:solidFill>
                  <a:srgbClr val="1B1F2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สาธิตระบบจริงบน XAMPP + ผลการทดสอบ</a:t>
            </a:r>
            <a:endParaRPr lang="th-TH" sz="1350" dirty="0"/>
          </a:p>
        </p:txBody>
      </p:sp>
      <p:sp>
        <p:nvSpPr>
          <p:cNvPr id="39" name="Text 33"/>
          <p:cNvSpPr txBox="1"/>
          <p:nvPr/>
        </p:nvSpPr>
        <p:spPr>
          <a:xfrm>
            <a:off x="9464040" y="4562856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altLang="en-US" sz="1200" dirty="0">
                <a:solidFill>
                  <a:srgbClr val="5F6B6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สไลด์ 9–12</a:t>
            </a:r>
            <a:endParaRPr lang="th-TH" sz="1200" dirty="0"/>
          </a:p>
        </p:txBody>
      </p:sp>
      <p:sp>
        <p:nvSpPr>
          <p:cNvPr id="40" name="Shape 34"/>
          <p:cNvSpPr/>
          <p:nvPr/>
        </p:nvSpPr>
        <p:spPr>
          <a:xfrm>
            <a:off x="10424160" y="4654296"/>
            <a:ext cx="987552" cy="347472"/>
          </a:xfrm>
          <a:prstGeom prst="roundRect">
            <a:avLst>
              <a:gd name="adj" fmla="val 50000"/>
            </a:avLst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sp>
        <p:nvSpPr>
          <p:cNvPr id="41" name="Text 35"/>
          <p:cNvSpPr txBox="1"/>
          <p:nvPr/>
        </p:nvSpPr>
        <p:spPr>
          <a:xfrm>
            <a:off x="10424160" y="4654296"/>
            <a:ext cx="987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1050" b="1" dirty="0">
                <a:solidFill>
                  <a:srgbClr val="2D6A4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6–13 นาที</a:t>
            </a:r>
            <a:endParaRPr lang="th-TH" sz="1050" dirty="0"/>
          </a:p>
        </p:txBody>
      </p:sp>
      <p:sp>
        <p:nvSpPr>
          <p:cNvPr id="42" name="Shape 36"/>
          <p:cNvSpPr/>
          <p:nvPr/>
        </p:nvSpPr>
        <p:spPr>
          <a:xfrm>
            <a:off x="640080" y="5349240"/>
            <a:ext cx="10908792" cy="786384"/>
          </a:xfrm>
          <a:prstGeom prst="roundRect">
            <a:avLst>
              <a:gd name="adj" fmla="val 13953"/>
            </a:avLst>
          </a:prstGeom>
          <a:solidFill>
            <a:srgbClr val="F7FAF8"/>
          </a:solidFill>
          <a:ln w="12700">
            <a:solidFill>
              <a:srgbClr val="DDE5E0"/>
            </a:solidFill>
            <a:prstDash val="solid"/>
          </a:ln>
        </p:spPr>
      </p:sp>
      <p:sp>
        <p:nvSpPr>
          <p:cNvPr id="43" name="Text 37"/>
          <p:cNvSpPr txBox="1"/>
          <p:nvPr/>
        </p:nvSpPr>
        <p:spPr>
          <a:xfrm>
            <a:off x="868680" y="5468112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altLang="en-US" sz="2600" b="1" dirty="0">
                <a:solidFill>
                  <a:srgbClr val="B7791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5</a:t>
            </a:r>
            <a:endParaRPr lang="th-TH" sz="2600" dirty="0"/>
          </a:p>
        </p:txBody>
      </p:sp>
      <p:sp>
        <p:nvSpPr>
          <p:cNvPr id="44" name="Shape 38"/>
          <p:cNvSpPr/>
          <p:nvPr/>
        </p:nvSpPr>
        <p:spPr>
          <a:xfrm>
            <a:off x="1417320" y="5486400"/>
            <a:ext cx="512064" cy="512064"/>
          </a:xfrm>
          <a:prstGeom prst="ellipse">
            <a:avLst/>
          </a:prstGeom>
          <a:solidFill>
            <a:srgbClr val="FDF3E1"/>
          </a:solidFill>
          <a:ln w="12700">
            <a:solidFill>
              <a:srgbClr val="FDF3E1"/>
            </a:solidFill>
            <a:prstDash val="solid"/>
          </a:ln>
        </p:spPr>
      </p:sp>
      <p:pic>
        <p:nvPicPr>
          <p:cNvPr id="4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0457" y="5619537"/>
            <a:ext cx="245791" cy="245791"/>
          </a:xfrm>
          <a:prstGeom prst="rect">
            <a:avLst/>
          </a:prstGeom>
        </p:spPr>
      </p:pic>
      <p:sp>
        <p:nvSpPr>
          <p:cNvPr id="46" name="Text 39"/>
          <p:cNvSpPr txBox="1"/>
          <p:nvPr/>
        </p:nvSpPr>
        <p:spPr>
          <a:xfrm>
            <a:off x="2148840" y="5477256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altLang="en-US" sz="2000" b="1" dirty="0">
                <a:solidFill>
                  <a:srgbClr val="163A2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ถาม–ตอบ</a:t>
            </a:r>
            <a:endParaRPr lang="th-TH" sz="2000" dirty="0"/>
          </a:p>
        </p:txBody>
      </p:sp>
      <p:sp>
        <p:nvSpPr>
          <p:cNvPr id="47" name="Text 40"/>
          <p:cNvSpPr txBox="1"/>
          <p:nvPr/>
        </p:nvSpPr>
        <p:spPr>
          <a:xfrm>
            <a:off x="5212080" y="5477256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altLang="en-US" sz="1350" dirty="0">
                <a:solidFill>
                  <a:srgbClr val="1B1F2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สรุปผล แล้วตอบคำถามจากอาจารย์</a:t>
            </a:r>
            <a:endParaRPr lang="th-TH" sz="1350" dirty="0"/>
          </a:p>
        </p:txBody>
      </p:sp>
      <p:sp>
        <p:nvSpPr>
          <p:cNvPr id="48" name="Text 41"/>
          <p:cNvSpPr txBox="1"/>
          <p:nvPr/>
        </p:nvSpPr>
        <p:spPr>
          <a:xfrm>
            <a:off x="9464040" y="5477256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altLang="en-US" sz="1200" dirty="0">
                <a:solidFill>
                  <a:srgbClr val="5F6B6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สไลด์ 13–14</a:t>
            </a:r>
            <a:endParaRPr lang="th-TH" sz="1200" dirty="0"/>
          </a:p>
        </p:txBody>
      </p:sp>
      <p:sp>
        <p:nvSpPr>
          <p:cNvPr id="49" name="Shape 42"/>
          <p:cNvSpPr/>
          <p:nvPr/>
        </p:nvSpPr>
        <p:spPr>
          <a:xfrm>
            <a:off x="10424160" y="5568696"/>
            <a:ext cx="987552" cy="347472"/>
          </a:xfrm>
          <a:prstGeom prst="roundRect">
            <a:avLst>
              <a:gd name="adj" fmla="val 50000"/>
            </a:avLst>
          </a:prstGeom>
          <a:solidFill>
            <a:srgbClr val="FDF3E1"/>
          </a:solidFill>
          <a:ln w="12700">
            <a:solidFill>
              <a:srgbClr val="FDF3E1"/>
            </a:solidFill>
            <a:prstDash val="solid"/>
          </a:ln>
        </p:spPr>
      </p:sp>
      <p:sp>
        <p:nvSpPr>
          <p:cNvPr id="50" name="Text 43"/>
          <p:cNvSpPr txBox="1"/>
          <p:nvPr/>
        </p:nvSpPr>
        <p:spPr>
          <a:xfrm>
            <a:off x="10424160" y="5568696"/>
            <a:ext cx="987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1050" b="1" dirty="0">
                <a:solidFill>
                  <a:srgbClr val="B7791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13–15 นาที</a:t>
            </a:r>
            <a:endParaRPr lang="th-TH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300" b="1" dirty="0">
                <a:solidFill>
                  <a:srgbClr val="52B78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หัวข้อที่ 1  ·  ปัญหาที่เลือก</a:t>
            </a:r>
            <a:endParaRPr lang="th-TH" sz="1300" dirty="0"/>
          </a:p>
        </p:txBody>
      </p:sp>
      <p:sp>
        <p:nvSpPr>
          <p:cNvPr id="3" name="Shape 1"/>
          <p:cNvSpPr/>
          <p:nvPr/>
        </p:nvSpPr>
        <p:spPr>
          <a:xfrm>
            <a:off x="5349240" y="38404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349240" y="38404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95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 ปัญหาที่เลือก</a:t>
            </a:r>
            <a:endParaRPr lang="th-TH" sz="950" dirty="0"/>
          </a:p>
        </p:txBody>
      </p:sp>
      <p:sp>
        <p:nvSpPr>
          <p:cNvPr id="5" name="Shape 3"/>
          <p:cNvSpPr/>
          <p:nvPr/>
        </p:nvSpPr>
        <p:spPr>
          <a:xfrm>
            <a:off x="6601968" y="38404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EEF8F0"/>
          </a:solidFill>
          <a:ln w="12700">
            <a:solidFill>
              <a:srgbClr val="EEF8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01968" y="38404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950" dirty="0">
                <a:solidFill>
                  <a:srgbClr val="5F6B6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 เทคโนโลยีที่ศึกษา</a:t>
            </a:r>
            <a:endParaRPr lang="th-TH" sz="950" dirty="0"/>
          </a:p>
        </p:txBody>
      </p:sp>
      <p:sp>
        <p:nvSpPr>
          <p:cNvPr id="7" name="Shape 5"/>
          <p:cNvSpPr/>
          <p:nvPr/>
        </p:nvSpPr>
        <p:spPr>
          <a:xfrm>
            <a:off x="7854696" y="38404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EEF8F0"/>
          </a:solidFill>
          <a:ln w="12700">
            <a:solidFill>
              <a:srgbClr val="EEF8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854696" y="38404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950" dirty="0">
                <a:solidFill>
                  <a:srgbClr val="5F6B6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 Prototype</a:t>
            </a:r>
            <a:endParaRPr lang="th-TH" sz="950" dirty="0"/>
          </a:p>
        </p:txBody>
      </p:sp>
      <p:sp>
        <p:nvSpPr>
          <p:cNvPr id="9" name="Shape 7"/>
          <p:cNvSpPr/>
          <p:nvPr/>
        </p:nvSpPr>
        <p:spPr>
          <a:xfrm>
            <a:off x="9107424" y="38404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EEF8F0"/>
          </a:solidFill>
          <a:ln w="12700">
            <a:solidFill>
              <a:srgbClr val="EEF8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07424" y="38404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950" dirty="0">
                <a:solidFill>
                  <a:srgbClr val="5F6B6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4 Demo</a:t>
            </a:r>
            <a:endParaRPr lang="th-TH" sz="950" dirty="0"/>
          </a:p>
        </p:txBody>
      </p:sp>
      <p:sp>
        <p:nvSpPr>
          <p:cNvPr id="11" name="Shape 9"/>
          <p:cNvSpPr/>
          <p:nvPr/>
        </p:nvSpPr>
        <p:spPr>
          <a:xfrm>
            <a:off x="10360152" y="38404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EEF8F0"/>
          </a:solidFill>
          <a:ln w="12700">
            <a:solidFill>
              <a:srgbClr val="EEF8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360152" y="38404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950" dirty="0">
                <a:solidFill>
                  <a:srgbClr val="5F6B6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5 ถาม–ตอบ</a:t>
            </a:r>
            <a:endParaRPr lang="th-TH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3200" b="1" dirty="0">
                <a:solidFill>
                  <a:srgbClr val="163A2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ปัญหาทางธุรกิจ</a:t>
            </a:r>
            <a:endParaRPr lang="th-TH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000" dirty="0">
                <a:solidFill>
                  <a:srgbClr val="5F6B6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ผู้นำเสนอ: นายวิทยา</a:t>
            </a:r>
            <a:endParaRPr lang="th-TH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0634472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th-TH" altLang="en-US" sz="1000" dirty="0">
                <a:solidFill>
                  <a:srgbClr val="5F6B6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 / 14</a:t>
            </a:r>
            <a:endParaRPr lang="th-TH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178308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2400" b="1" dirty="0">
                <a:solidFill>
                  <a:srgbClr val="1B1F2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พ่อค้าแม่ค้าในตลาดสดทวีโรจน์</a:t>
            </a:r>
            <a:endParaRPr lang="th-TH" sz="2400" dirty="0"/>
          </a:p>
          <a:p>
            <a:pPr indent="0" marL="0">
              <a:buNone/>
            </a:pPr>
            <a:r>
              <a:rPr lang="th-TH" altLang="en-US" sz="2400" b="1" dirty="0">
                <a:solidFill>
                  <a:srgbClr val="1B1F2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ยังคิดเงินด้วยมือหรือเครื่องคิดเลข</a:t>
            </a:r>
            <a:endParaRPr lang="th-TH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06324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500" dirty="0">
                <a:solidFill>
                  <a:srgbClr val="5F6B6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ช่วงเช้าและเย็นลูกค้าหนาแน่น ผู้ขายต้องคิดเงินหลายรายการต่อบิล ขณะที่ร้านเล็กไม่มีงบจ้างโปรแกรมเมอร์ทำระบบ</a:t>
            </a:r>
            <a:endParaRPr lang="th-TH" sz="1500" dirty="0"/>
          </a:p>
        </p:txBody>
      </p:sp>
      <p:sp>
        <p:nvSpPr>
          <p:cNvPr id="18" name="Shape 16"/>
          <p:cNvSpPr/>
          <p:nvPr/>
        </p:nvSpPr>
        <p:spPr>
          <a:xfrm>
            <a:off x="640080" y="4343400"/>
            <a:ext cx="4937760" cy="1691640"/>
          </a:xfrm>
          <a:prstGeom prst="roundRect">
            <a:avLst>
              <a:gd name="adj" fmla="val 6486"/>
            </a:avLst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8680" y="4572000"/>
            <a:ext cx="566928" cy="566928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081" y="4719401"/>
            <a:ext cx="272125" cy="272125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1600200" y="45902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800" b="1" dirty="0">
                <a:solidFill>
                  <a:srgbClr val="163A2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เป้าหมาย</a:t>
            </a:r>
            <a:endParaRPr lang="th-TH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1600200" y="4983480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400" dirty="0">
                <a:solidFill>
                  <a:srgbClr val="1B1F2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ระบบที่คิดเงินได้ถูกต้องและรวดเร็ว ออกใบเสร็จได้ และตัดสต็อกอัตโนมัติ พัฒนาได้เร็วด้วย AI</a:t>
            </a:r>
            <a:endParaRPr lang="th-TH" sz="1400" dirty="0"/>
          </a:p>
        </p:txBody>
      </p:sp>
      <p:sp>
        <p:nvSpPr>
          <p:cNvPr id="23" name="Shape 20"/>
          <p:cNvSpPr/>
          <p:nvPr/>
        </p:nvSpPr>
        <p:spPr>
          <a:xfrm>
            <a:off x="6172200" y="1783080"/>
            <a:ext cx="5376672" cy="1261872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446520" y="2048256"/>
            <a:ext cx="731520" cy="731520"/>
          </a:xfrm>
          <a:prstGeom prst="ellipse">
            <a:avLst/>
          </a:prstGeom>
          <a:solidFill>
            <a:srgbClr val="FDECE7"/>
          </a:solidFill>
          <a:ln w="12700">
            <a:solidFill>
              <a:srgbClr val="FDECE7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6715" y="2238451"/>
            <a:ext cx="351130" cy="351130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7406640" y="203911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2000" b="1" dirty="0">
                <a:solidFill>
                  <a:srgbClr val="1B1F2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ช้า</a:t>
            </a:r>
            <a:endParaRPr lang="th-TH" sz="2000" dirty="0"/>
          </a:p>
        </p:txBody>
      </p:sp>
      <p:sp>
        <p:nvSpPr>
          <p:cNvPr id="27" name="Text 23"/>
          <p:cNvSpPr txBox="1"/>
          <p:nvPr/>
        </p:nvSpPr>
        <p:spPr>
          <a:xfrm>
            <a:off x="7406640" y="24688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400" dirty="0">
                <a:solidFill>
                  <a:srgbClr val="5F6B6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ลูกค้ารอคิวนาน คิดเงินทีละรายการ</a:t>
            </a:r>
            <a:endParaRPr lang="th-TH" sz="1400" dirty="0"/>
          </a:p>
        </p:txBody>
      </p:sp>
      <p:sp>
        <p:nvSpPr>
          <p:cNvPr id="28" name="Shape 24"/>
          <p:cNvSpPr/>
          <p:nvPr/>
        </p:nvSpPr>
        <p:spPr>
          <a:xfrm>
            <a:off x="6172200" y="3246120"/>
            <a:ext cx="5376672" cy="1261872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6446520" y="3511296"/>
            <a:ext cx="731520" cy="731520"/>
          </a:xfrm>
          <a:prstGeom prst="ellipse">
            <a:avLst/>
          </a:prstGeom>
          <a:solidFill>
            <a:srgbClr val="FDECE7"/>
          </a:solidFill>
          <a:ln w="12700">
            <a:solidFill>
              <a:srgbClr val="FDECE7"/>
            </a:solidFill>
            <a:prstDash val="solid"/>
          </a:ln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6715" y="3701491"/>
            <a:ext cx="351130" cy="351130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7406640" y="350215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2000" b="1" dirty="0">
                <a:solidFill>
                  <a:srgbClr val="1B1F2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ผิดพลาด (Human Error)</a:t>
            </a:r>
            <a:endParaRPr lang="th-TH" sz="2000" dirty="0"/>
          </a:p>
        </p:txBody>
      </p:sp>
      <p:sp>
        <p:nvSpPr>
          <p:cNvPr id="32" name="Text 27"/>
          <p:cNvSpPr txBox="1"/>
          <p:nvPr/>
        </p:nvSpPr>
        <p:spPr>
          <a:xfrm>
            <a:off x="7406640" y="39319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400" dirty="0">
                <a:solidFill>
                  <a:srgbClr val="5F6B6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คิดเงินผิด ทอนผิด จดจำนวนสินค้าผิด</a:t>
            </a:r>
            <a:endParaRPr lang="th-TH" sz="1400" dirty="0"/>
          </a:p>
        </p:txBody>
      </p:sp>
      <p:sp>
        <p:nvSpPr>
          <p:cNvPr id="33" name="Shape 28"/>
          <p:cNvSpPr/>
          <p:nvPr/>
        </p:nvSpPr>
        <p:spPr>
          <a:xfrm>
            <a:off x="6172200" y="4709160"/>
            <a:ext cx="5376672" cy="1261872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34" name="Shape 29"/>
          <p:cNvSpPr/>
          <p:nvPr/>
        </p:nvSpPr>
        <p:spPr>
          <a:xfrm>
            <a:off x="6446520" y="4974336"/>
            <a:ext cx="731520" cy="731520"/>
          </a:xfrm>
          <a:prstGeom prst="ellipse">
            <a:avLst/>
          </a:prstGeom>
          <a:solidFill>
            <a:srgbClr val="FDECE7"/>
          </a:solidFill>
          <a:ln w="12700">
            <a:solidFill>
              <a:srgbClr val="FDECE7"/>
            </a:solidFill>
            <a:prstDash val="solid"/>
          </a:ln>
        </p:spPr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6715" y="5164531"/>
            <a:ext cx="351130" cy="351130"/>
          </a:xfrm>
          <a:prstGeom prst="rect">
            <a:avLst/>
          </a:prstGeom>
        </p:spPr>
      </p:pic>
      <p:sp>
        <p:nvSpPr>
          <p:cNvPr id="36" name="Text 30"/>
          <p:cNvSpPr txBox="1"/>
          <p:nvPr/>
        </p:nvSpPr>
        <p:spPr>
          <a:xfrm>
            <a:off x="7406640" y="496519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2000" b="1" dirty="0">
                <a:solidFill>
                  <a:srgbClr val="1B1F2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สต็อกไม่ตรง</a:t>
            </a:r>
            <a:endParaRPr lang="th-TH" sz="2000" dirty="0"/>
          </a:p>
        </p:txBody>
      </p:sp>
      <p:sp>
        <p:nvSpPr>
          <p:cNvPr id="37" name="Text 31"/>
          <p:cNvSpPr txBox="1"/>
          <p:nvPr/>
        </p:nvSpPr>
        <p:spPr>
          <a:xfrm>
            <a:off x="7406640" y="53949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400" dirty="0">
                <a:solidFill>
                  <a:srgbClr val="5F6B6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ยอดขายและของคงเหลือไม่ตรงกับความจริง</a:t>
            </a:r>
            <a:endParaRPr lang="th-TH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300" b="1" dirty="0">
                <a:solidFill>
                  <a:srgbClr val="52B78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หัวข้อที่ 2  ·  เทคโนโลยีที่ศึกษา</a:t>
            </a:r>
            <a:endParaRPr lang="th-TH" sz="1300" dirty="0"/>
          </a:p>
        </p:txBody>
      </p:sp>
      <p:sp>
        <p:nvSpPr>
          <p:cNvPr id="3" name="Shape 1"/>
          <p:cNvSpPr/>
          <p:nvPr/>
        </p:nvSpPr>
        <p:spPr>
          <a:xfrm>
            <a:off x="5349240" y="38404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EEF8F0"/>
          </a:solidFill>
          <a:ln w="12700">
            <a:solidFill>
              <a:srgbClr val="EEF8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349240" y="38404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950" dirty="0">
                <a:solidFill>
                  <a:srgbClr val="5F6B6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 ปัญหาที่เลือก</a:t>
            </a:r>
            <a:endParaRPr lang="th-TH" sz="950" dirty="0"/>
          </a:p>
        </p:txBody>
      </p:sp>
      <p:sp>
        <p:nvSpPr>
          <p:cNvPr id="5" name="Shape 3"/>
          <p:cNvSpPr/>
          <p:nvPr/>
        </p:nvSpPr>
        <p:spPr>
          <a:xfrm>
            <a:off x="6601968" y="38404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01968" y="38404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95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 เทคโนโลยีที่ศึกษา</a:t>
            </a:r>
            <a:endParaRPr lang="th-TH" sz="950" dirty="0"/>
          </a:p>
        </p:txBody>
      </p:sp>
      <p:sp>
        <p:nvSpPr>
          <p:cNvPr id="7" name="Shape 5"/>
          <p:cNvSpPr/>
          <p:nvPr/>
        </p:nvSpPr>
        <p:spPr>
          <a:xfrm>
            <a:off x="7854696" y="38404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EEF8F0"/>
          </a:solidFill>
          <a:ln w="12700">
            <a:solidFill>
              <a:srgbClr val="EEF8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854696" y="38404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950" dirty="0">
                <a:solidFill>
                  <a:srgbClr val="5F6B6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 Prototype</a:t>
            </a:r>
            <a:endParaRPr lang="th-TH" sz="950" dirty="0"/>
          </a:p>
        </p:txBody>
      </p:sp>
      <p:sp>
        <p:nvSpPr>
          <p:cNvPr id="9" name="Shape 7"/>
          <p:cNvSpPr/>
          <p:nvPr/>
        </p:nvSpPr>
        <p:spPr>
          <a:xfrm>
            <a:off x="9107424" y="38404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EEF8F0"/>
          </a:solidFill>
          <a:ln w="12700">
            <a:solidFill>
              <a:srgbClr val="EEF8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07424" y="38404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950" dirty="0">
                <a:solidFill>
                  <a:srgbClr val="5F6B6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4 Demo</a:t>
            </a:r>
            <a:endParaRPr lang="th-TH" sz="950" dirty="0"/>
          </a:p>
        </p:txBody>
      </p:sp>
      <p:sp>
        <p:nvSpPr>
          <p:cNvPr id="11" name="Shape 9"/>
          <p:cNvSpPr/>
          <p:nvPr/>
        </p:nvSpPr>
        <p:spPr>
          <a:xfrm>
            <a:off x="10360152" y="38404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EEF8F0"/>
          </a:solidFill>
          <a:ln w="12700">
            <a:solidFill>
              <a:srgbClr val="EEF8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360152" y="38404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950" dirty="0">
                <a:solidFill>
                  <a:srgbClr val="5F6B6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5 ถาม–ตอบ</a:t>
            </a:r>
            <a:endParaRPr lang="th-TH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3200" b="1" dirty="0">
                <a:solidFill>
                  <a:srgbClr val="163A2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AI Coding Assistant</a:t>
            </a:r>
            <a:endParaRPr lang="th-TH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000" dirty="0">
                <a:solidFill>
                  <a:srgbClr val="5F6B6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ผู้นำเสนอ: นายวิทยา</a:t>
            </a:r>
            <a:endParaRPr lang="th-TH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0634472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th-TH" altLang="en-US" sz="1000" dirty="0">
                <a:solidFill>
                  <a:srgbClr val="5F6B6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4 / 14</a:t>
            </a:r>
            <a:endParaRPr lang="th-TH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178308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600" dirty="0">
                <a:solidFill>
                  <a:srgbClr val="1B1F2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AI ที่ใช้โมเดลภาษาขนาดใหญ่ (LLM) ช่วย </a:t>
            </a:r>
            <a:pPr indent="0" marL="0">
              <a:buNone/>
            </a:pPr>
            <a:r>
              <a:rPr lang="th-TH" altLang="en-US" sz="1600" b="1" dirty="0">
                <a:solidFill>
                  <a:srgbClr val="1B1F2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เขียนโค้ด อธิบายโค้ด และหา Bug</a:t>
            </a:r>
            <a:pPr indent="0" marL="0">
              <a:buNone/>
            </a:pPr>
            <a:r>
              <a:rPr lang="th-TH" altLang="en-US" sz="1600" dirty="0">
                <a:solidFill>
                  <a:srgbClr val="1B1F2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 จากคำสั่งภาษาธรรมชาติ (Prompt)</a:t>
            </a:r>
            <a:endParaRPr lang="th-TH" sz="1600" dirty="0"/>
          </a:p>
        </p:txBody>
      </p:sp>
      <p:sp>
        <p:nvSpPr>
          <p:cNvPr id="17" name="Shape 15"/>
          <p:cNvSpPr/>
          <p:nvPr/>
        </p:nvSpPr>
        <p:spPr>
          <a:xfrm>
            <a:off x="640080" y="2926080"/>
            <a:ext cx="5120640" cy="841248"/>
          </a:xfrm>
          <a:prstGeom prst="roundRect">
            <a:avLst>
              <a:gd name="adj" fmla="val 13043"/>
            </a:avLst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" y="3072384"/>
            <a:ext cx="548640" cy="54864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606" y="3215030"/>
            <a:ext cx="263347" cy="263347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1554480" y="303580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700" b="1" dirty="0">
                <a:solidFill>
                  <a:srgbClr val="163A2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ChatGPT</a:t>
            </a:r>
            <a:endParaRPr lang="th-TH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1554480" y="338328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300" dirty="0">
                <a:solidFill>
                  <a:srgbClr val="5F6B6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เครื่องมือหลักที่ใช้ในโครงงานนี้</a:t>
            </a:r>
            <a:endParaRPr lang="th-TH" sz="1300" dirty="0"/>
          </a:p>
        </p:txBody>
      </p:sp>
      <p:sp>
        <p:nvSpPr>
          <p:cNvPr id="22" name="Shape 19"/>
          <p:cNvSpPr/>
          <p:nvPr/>
        </p:nvSpPr>
        <p:spPr>
          <a:xfrm>
            <a:off x="640080" y="3931920"/>
            <a:ext cx="5120640" cy="841248"/>
          </a:xfrm>
          <a:prstGeom prst="roundRect">
            <a:avLst>
              <a:gd name="adj" fmla="val 13043"/>
            </a:avLst>
          </a:prstGeom>
          <a:solidFill>
            <a:srgbClr val="EEF8F0"/>
          </a:solidFill>
          <a:ln w="12700">
            <a:solidFill>
              <a:srgbClr val="EEF8F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22960" y="4078224"/>
            <a:ext cx="548640" cy="54864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606" y="4220870"/>
            <a:ext cx="263347" cy="263347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1554480" y="404164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700" b="1" dirty="0">
                <a:solidFill>
                  <a:srgbClr val="163A2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GitHub Copilot</a:t>
            </a:r>
            <a:endParaRPr lang="th-TH" sz="1700" dirty="0"/>
          </a:p>
        </p:txBody>
      </p:sp>
      <p:sp>
        <p:nvSpPr>
          <p:cNvPr id="26" name="Text 22"/>
          <p:cNvSpPr txBox="1"/>
          <p:nvPr/>
        </p:nvSpPr>
        <p:spPr>
          <a:xfrm>
            <a:off x="1554480" y="438912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300" dirty="0">
                <a:solidFill>
                  <a:srgbClr val="5F6B6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เติมโค้ดอัตโนมัติใน VS Code</a:t>
            </a:r>
            <a:endParaRPr lang="th-TH" sz="1300" dirty="0"/>
          </a:p>
        </p:txBody>
      </p:sp>
      <p:sp>
        <p:nvSpPr>
          <p:cNvPr id="27" name="Shape 23"/>
          <p:cNvSpPr/>
          <p:nvPr/>
        </p:nvSpPr>
        <p:spPr>
          <a:xfrm>
            <a:off x="640080" y="4937760"/>
            <a:ext cx="5120640" cy="841248"/>
          </a:xfrm>
          <a:prstGeom prst="roundRect">
            <a:avLst>
              <a:gd name="adj" fmla="val 13043"/>
            </a:avLst>
          </a:prstGeom>
          <a:solidFill>
            <a:srgbClr val="EEF8F0"/>
          </a:solidFill>
          <a:ln w="12700">
            <a:solidFill>
              <a:srgbClr val="EEF8F0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822960" y="5084064"/>
            <a:ext cx="548640" cy="54864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606" y="5226710"/>
            <a:ext cx="263347" cy="263347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1554480" y="504748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700" b="1" dirty="0">
                <a:solidFill>
                  <a:srgbClr val="163A2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Codex / Coding Agent</a:t>
            </a:r>
            <a:endParaRPr lang="th-TH" sz="1700" dirty="0"/>
          </a:p>
        </p:txBody>
      </p:sp>
      <p:sp>
        <p:nvSpPr>
          <p:cNvPr id="31" name="Text 26"/>
          <p:cNvSpPr txBox="1"/>
          <p:nvPr/>
        </p:nvSpPr>
        <p:spPr>
          <a:xfrm>
            <a:off x="1554480" y="539496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300" dirty="0">
                <a:solidFill>
                  <a:srgbClr val="5F6B6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แก้ไขได้ทั้งโปรเจกต์ รันและทดสอบเอง</a:t>
            </a:r>
            <a:endParaRPr lang="th-TH" sz="1300" dirty="0"/>
          </a:p>
        </p:txBody>
      </p:sp>
      <p:sp>
        <p:nvSpPr>
          <p:cNvPr id="32" name="Shape 27"/>
          <p:cNvSpPr/>
          <p:nvPr/>
        </p:nvSpPr>
        <p:spPr>
          <a:xfrm>
            <a:off x="6263640" y="1783080"/>
            <a:ext cx="1627632" cy="251460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33" name="Text 28"/>
          <p:cNvSpPr txBox="1"/>
          <p:nvPr/>
        </p:nvSpPr>
        <p:spPr>
          <a:xfrm>
            <a:off x="6400800" y="19659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3000" b="1" dirty="0">
                <a:solidFill>
                  <a:srgbClr val="2D6A4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55.8%</a:t>
            </a:r>
            <a:endParaRPr lang="th-TH" sz="3000" dirty="0"/>
          </a:p>
        </p:txBody>
      </p:sp>
      <p:sp>
        <p:nvSpPr>
          <p:cNvPr id="34" name="Text 29"/>
          <p:cNvSpPr txBox="1"/>
          <p:nvPr/>
        </p:nvSpPr>
        <p:spPr>
          <a:xfrm>
            <a:off x="6400800" y="269748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250" dirty="0">
                <a:solidFill>
                  <a:srgbClr val="1B1F2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งานเสร็จเร็วขึ้นเมื่อใช้ Copilot</a:t>
            </a:r>
            <a:endParaRPr lang="th-TH" sz="1250" dirty="0"/>
          </a:p>
        </p:txBody>
      </p:sp>
      <p:sp>
        <p:nvSpPr>
          <p:cNvPr id="35" name="Text 30"/>
          <p:cNvSpPr txBox="1"/>
          <p:nvPr/>
        </p:nvSpPr>
        <p:spPr>
          <a:xfrm>
            <a:off x="6400800" y="38404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950" dirty="0">
                <a:solidFill>
                  <a:srgbClr val="5F6B6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Peng et al., 2023</a:t>
            </a:r>
            <a:endParaRPr lang="th-TH" sz="950" dirty="0"/>
          </a:p>
        </p:txBody>
      </p:sp>
      <p:sp>
        <p:nvSpPr>
          <p:cNvPr id="36" name="Shape 31"/>
          <p:cNvSpPr/>
          <p:nvPr/>
        </p:nvSpPr>
        <p:spPr>
          <a:xfrm>
            <a:off x="8065008" y="1783080"/>
            <a:ext cx="1627632" cy="251460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37" name="Text 32"/>
          <p:cNvSpPr txBox="1"/>
          <p:nvPr/>
        </p:nvSpPr>
        <p:spPr>
          <a:xfrm>
            <a:off x="8202168" y="19659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3000" b="1" dirty="0">
                <a:solidFill>
                  <a:srgbClr val="E76F5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~40%</a:t>
            </a:r>
            <a:endParaRPr lang="th-TH" sz="3000" dirty="0"/>
          </a:p>
        </p:txBody>
      </p:sp>
      <p:sp>
        <p:nvSpPr>
          <p:cNvPr id="38" name="Text 33"/>
          <p:cNvSpPr txBox="1"/>
          <p:nvPr/>
        </p:nvSpPr>
        <p:spPr>
          <a:xfrm>
            <a:off x="8202168" y="269748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250" dirty="0">
                <a:solidFill>
                  <a:srgbClr val="1B1F2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ของโค้ดที่ AI สร้างมีช่องโหว่</a:t>
            </a:r>
            <a:endParaRPr lang="th-TH" sz="1250" dirty="0"/>
          </a:p>
        </p:txBody>
      </p:sp>
      <p:sp>
        <p:nvSpPr>
          <p:cNvPr id="39" name="Text 34"/>
          <p:cNvSpPr txBox="1"/>
          <p:nvPr/>
        </p:nvSpPr>
        <p:spPr>
          <a:xfrm>
            <a:off x="8202168" y="38404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950" dirty="0">
                <a:solidFill>
                  <a:srgbClr val="5F6B6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Pearce et al., 2022</a:t>
            </a:r>
            <a:endParaRPr lang="th-TH" sz="950" dirty="0"/>
          </a:p>
        </p:txBody>
      </p:sp>
      <p:sp>
        <p:nvSpPr>
          <p:cNvPr id="40" name="Shape 35"/>
          <p:cNvSpPr/>
          <p:nvPr/>
        </p:nvSpPr>
        <p:spPr>
          <a:xfrm>
            <a:off x="9866376" y="1783080"/>
            <a:ext cx="1627632" cy="251460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41" name="Text 36"/>
          <p:cNvSpPr txBox="1"/>
          <p:nvPr/>
        </p:nvSpPr>
        <p:spPr>
          <a:xfrm>
            <a:off x="10003536" y="19659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3000" b="1" dirty="0">
                <a:solidFill>
                  <a:srgbClr val="B7791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84%</a:t>
            </a:r>
            <a:endParaRPr lang="th-TH" sz="3000" dirty="0"/>
          </a:p>
        </p:txBody>
      </p:sp>
      <p:sp>
        <p:nvSpPr>
          <p:cNvPr id="42" name="Text 37"/>
          <p:cNvSpPr txBox="1"/>
          <p:nvPr/>
        </p:nvSpPr>
        <p:spPr>
          <a:xfrm>
            <a:off x="10003536" y="269748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250" dirty="0">
                <a:solidFill>
                  <a:srgbClr val="1B1F2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นักพัฒนาใช้ AI แต่ 46% ไม่ไว้ใจผลลัพธ์</a:t>
            </a:r>
            <a:endParaRPr lang="th-TH" sz="1250" dirty="0"/>
          </a:p>
        </p:txBody>
      </p:sp>
      <p:sp>
        <p:nvSpPr>
          <p:cNvPr id="43" name="Text 38"/>
          <p:cNvSpPr txBox="1"/>
          <p:nvPr/>
        </p:nvSpPr>
        <p:spPr>
          <a:xfrm>
            <a:off x="10003536" y="38404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950" dirty="0">
                <a:solidFill>
                  <a:srgbClr val="5F6B6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Stack Overflow, 2025</a:t>
            </a:r>
            <a:endParaRPr lang="th-TH" sz="950" dirty="0"/>
          </a:p>
        </p:txBody>
      </p:sp>
      <p:sp>
        <p:nvSpPr>
          <p:cNvPr id="44" name="Shape 39"/>
          <p:cNvSpPr/>
          <p:nvPr/>
        </p:nvSpPr>
        <p:spPr>
          <a:xfrm>
            <a:off x="6263640" y="4526280"/>
            <a:ext cx="5230368" cy="1572768"/>
          </a:xfrm>
          <a:prstGeom prst="roundRect">
            <a:avLst>
              <a:gd name="adj" fmla="val 6977"/>
            </a:avLst>
          </a:prstGeom>
          <a:solidFill>
            <a:srgbClr val="163A2E"/>
          </a:solidFill>
          <a:ln w="12700">
            <a:solidFill>
              <a:srgbClr val="163A2E"/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>
            <a:off x="6492240" y="4773168"/>
            <a:ext cx="548640" cy="54864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4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4886" y="4915814"/>
            <a:ext cx="263347" cy="263347"/>
          </a:xfrm>
          <a:prstGeom prst="rect">
            <a:avLst/>
          </a:prstGeom>
        </p:spPr>
      </p:pic>
      <p:sp>
        <p:nvSpPr>
          <p:cNvPr id="47" name="Text 41"/>
          <p:cNvSpPr txBox="1"/>
          <p:nvPr/>
        </p:nvSpPr>
        <p:spPr>
          <a:xfrm>
            <a:off x="7223760" y="47091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300" dirty="0">
                <a:solidFill>
                  <a:srgbClr val="95D5B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ข้อสรุปจากงานวิจัย 20 แหล่ง</a:t>
            </a:r>
            <a:endParaRPr lang="th-TH" sz="1300" dirty="0"/>
          </a:p>
        </p:txBody>
      </p:sp>
      <p:sp>
        <p:nvSpPr>
          <p:cNvPr id="48" name="Text 42"/>
          <p:cNvSpPr txBox="1"/>
          <p:nvPr/>
        </p:nvSpPr>
        <p:spPr>
          <a:xfrm>
            <a:off x="7223760" y="5029200"/>
            <a:ext cx="4069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6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AI ช่วยให้เร็วขึ้นจริง แต่ผู้พัฒนาต้องเข้าใจ ตรวจสอบ และทดสอบโค้ดเอง</a:t>
            </a:r>
            <a:endParaRPr lang="th-TH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300" b="1" dirty="0">
                <a:solidFill>
                  <a:srgbClr val="52B78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หัวข้อที่ 2  ·  เทคโนโลยีที่ศึกษา</a:t>
            </a:r>
            <a:endParaRPr lang="th-TH" sz="1300" dirty="0"/>
          </a:p>
        </p:txBody>
      </p:sp>
      <p:sp>
        <p:nvSpPr>
          <p:cNvPr id="3" name="Shape 1"/>
          <p:cNvSpPr/>
          <p:nvPr/>
        </p:nvSpPr>
        <p:spPr>
          <a:xfrm>
            <a:off x="5349240" y="38404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EEF8F0"/>
          </a:solidFill>
          <a:ln w="12700">
            <a:solidFill>
              <a:srgbClr val="EEF8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349240" y="38404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950" dirty="0">
                <a:solidFill>
                  <a:srgbClr val="5F6B6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 ปัญหาที่เลือก</a:t>
            </a:r>
            <a:endParaRPr lang="th-TH" sz="950" dirty="0"/>
          </a:p>
        </p:txBody>
      </p:sp>
      <p:sp>
        <p:nvSpPr>
          <p:cNvPr id="5" name="Shape 3"/>
          <p:cNvSpPr/>
          <p:nvPr/>
        </p:nvSpPr>
        <p:spPr>
          <a:xfrm>
            <a:off x="6601968" y="38404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01968" y="38404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95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 เทคโนโลยีที่ศึกษา</a:t>
            </a:r>
            <a:endParaRPr lang="th-TH" sz="950" dirty="0"/>
          </a:p>
        </p:txBody>
      </p:sp>
      <p:sp>
        <p:nvSpPr>
          <p:cNvPr id="7" name="Shape 5"/>
          <p:cNvSpPr/>
          <p:nvPr/>
        </p:nvSpPr>
        <p:spPr>
          <a:xfrm>
            <a:off x="7854696" y="38404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EEF8F0"/>
          </a:solidFill>
          <a:ln w="12700">
            <a:solidFill>
              <a:srgbClr val="EEF8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854696" y="38404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950" dirty="0">
                <a:solidFill>
                  <a:srgbClr val="5F6B6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 Prototype</a:t>
            </a:r>
            <a:endParaRPr lang="th-TH" sz="950" dirty="0"/>
          </a:p>
        </p:txBody>
      </p:sp>
      <p:sp>
        <p:nvSpPr>
          <p:cNvPr id="9" name="Shape 7"/>
          <p:cNvSpPr/>
          <p:nvPr/>
        </p:nvSpPr>
        <p:spPr>
          <a:xfrm>
            <a:off x="9107424" y="38404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EEF8F0"/>
          </a:solidFill>
          <a:ln w="12700">
            <a:solidFill>
              <a:srgbClr val="EEF8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07424" y="38404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950" dirty="0">
                <a:solidFill>
                  <a:srgbClr val="5F6B6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4 Demo</a:t>
            </a:r>
            <a:endParaRPr lang="th-TH" sz="950" dirty="0"/>
          </a:p>
        </p:txBody>
      </p:sp>
      <p:sp>
        <p:nvSpPr>
          <p:cNvPr id="11" name="Shape 9"/>
          <p:cNvSpPr/>
          <p:nvPr/>
        </p:nvSpPr>
        <p:spPr>
          <a:xfrm>
            <a:off x="10360152" y="38404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EEF8F0"/>
          </a:solidFill>
          <a:ln w="12700">
            <a:solidFill>
              <a:srgbClr val="EEF8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360152" y="38404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950" dirty="0">
                <a:solidFill>
                  <a:srgbClr val="5F6B6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5 ถาม–ตอบ</a:t>
            </a:r>
            <a:endParaRPr lang="th-TH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3200" b="1" dirty="0">
                <a:solidFill>
                  <a:srgbClr val="163A2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เราใช้ AI พัฒนาระบบอย่างไร</a:t>
            </a:r>
            <a:endParaRPr lang="th-TH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000" dirty="0">
                <a:solidFill>
                  <a:srgbClr val="5F6B6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ผู้นำเสนอ: นายวิทยา</a:t>
            </a:r>
            <a:endParaRPr lang="th-TH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0634472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th-TH" altLang="en-US" sz="1000" dirty="0">
                <a:solidFill>
                  <a:srgbClr val="5F6B6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5 / 14</a:t>
            </a:r>
            <a:endParaRPr lang="th-TH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1783080"/>
            <a:ext cx="246888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68680" y="2011680"/>
            <a:ext cx="658368" cy="658368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9856" y="2182856"/>
            <a:ext cx="316017" cy="316017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1664208" y="20574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200" b="1" dirty="0">
                <a:solidFill>
                  <a:srgbClr val="52B78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ขั้นที่ 1</a:t>
            </a:r>
            <a:endParaRPr lang="th-TH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1664208" y="230428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700" b="1" dirty="0">
                <a:solidFill>
                  <a:srgbClr val="163A2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Prompt</a:t>
            </a:r>
            <a:endParaRPr lang="th-TH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868680" y="29260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300" dirty="0">
                <a:solidFill>
                  <a:srgbClr val="5F6B6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ระบุภาษา เงื่อนไข</a:t>
            </a:r>
            <a:endParaRPr lang="th-TH" sz="1300" dirty="0"/>
          </a:p>
          <a:p>
            <a:pPr indent="0" marL="0">
              <a:buNone/>
            </a:pPr>
            <a:r>
              <a:rPr lang="th-TH" altLang="en-US" sz="1300" dirty="0">
                <a:solidFill>
                  <a:srgbClr val="5F6B6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และตัวอย่างผลลัพธ์</a:t>
            </a:r>
            <a:endParaRPr lang="th-TH" sz="1300" dirty="0"/>
          </a:p>
        </p:txBody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3824" y="2724912"/>
            <a:ext cx="164592" cy="256032"/>
          </a:xfrm>
          <a:prstGeom prst="rect">
            <a:avLst/>
          </a:prstGeom>
        </p:spPr>
      </p:pic>
      <p:sp>
        <p:nvSpPr>
          <p:cNvPr id="23" name="Shape 19"/>
          <p:cNvSpPr/>
          <p:nvPr/>
        </p:nvSpPr>
        <p:spPr>
          <a:xfrm>
            <a:off x="3383280" y="1783080"/>
            <a:ext cx="246888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3611880" y="2011680"/>
            <a:ext cx="658368" cy="658368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3056" y="2182856"/>
            <a:ext cx="316017" cy="316017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4407408" y="20574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200" b="1" dirty="0">
                <a:solidFill>
                  <a:srgbClr val="52B78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ขั้นที่ 2</a:t>
            </a:r>
            <a:endParaRPr lang="th-TH" sz="1200" dirty="0"/>
          </a:p>
        </p:txBody>
      </p:sp>
      <p:sp>
        <p:nvSpPr>
          <p:cNvPr id="27" name="Text 22"/>
          <p:cNvSpPr txBox="1"/>
          <p:nvPr/>
        </p:nvSpPr>
        <p:spPr>
          <a:xfrm>
            <a:off x="4407408" y="230428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700" b="1" dirty="0">
                <a:solidFill>
                  <a:srgbClr val="163A2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อ่าน &amp; เข้าใจ</a:t>
            </a:r>
            <a:endParaRPr lang="th-TH" sz="1700" dirty="0"/>
          </a:p>
        </p:txBody>
      </p:sp>
      <p:sp>
        <p:nvSpPr>
          <p:cNvPr id="28" name="Text 23"/>
          <p:cNvSpPr txBox="1"/>
          <p:nvPr/>
        </p:nvSpPr>
        <p:spPr>
          <a:xfrm>
            <a:off x="3611880" y="29260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300" dirty="0">
                <a:solidFill>
                  <a:srgbClr val="5F6B6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ให้ AI อธิบายทีละส่วน</a:t>
            </a:r>
            <a:endParaRPr lang="th-TH" sz="1300" dirty="0"/>
          </a:p>
          <a:p>
            <a:pPr indent="0" marL="0">
              <a:buNone/>
            </a:pPr>
            <a:r>
              <a:rPr lang="th-TH" altLang="en-US" sz="1300" dirty="0">
                <a:solidFill>
                  <a:srgbClr val="5F6B6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จนอธิบายเองได้</a:t>
            </a:r>
            <a:endParaRPr lang="th-TH" sz="1300" dirty="0"/>
          </a:p>
        </p:txBody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7024" y="2724912"/>
            <a:ext cx="164592" cy="256032"/>
          </a:xfrm>
          <a:prstGeom prst="rect">
            <a:avLst/>
          </a:prstGeom>
        </p:spPr>
      </p:pic>
      <p:sp>
        <p:nvSpPr>
          <p:cNvPr id="30" name="Shape 24"/>
          <p:cNvSpPr/>
          <p:nvPr/>
        </p:nvSpPr>
        <p:spPr>
          <a:xfrm>
            <a:off x="6126480" y="1783080"/>
            <a:ext cx="246888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6355080" y="2011680"/>
            <a:ext cx="658368" cy="658368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6256" y="2182856"/>
            <a:ext cx="316017" cy="316017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7150608" y="20574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200" b="1" dirty="0">
                <a:solidFill>
                  <a:srgbClr val="52B78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ขั้นที่ 3</a:t>
            </a:r>
            <a:endParaRPr lang="th-TH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7150608" y="230428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700" b="1" dirty="0">
                <a:solidFill>
                  <a:srgbClr val="163A2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ทดสอบ</a:t>
            </a:r>
            <a:endParaRPr lang="th-TH" sz="1700" dirty="0"/>
          </a:p>
        </p:txBody>
      </p:sp>
      <p:sp>
        <p:nvSpPr>
          <p:cNvPr id="35" name="Text 28"/>
          <p:cNvSpPr txBox="1"/>
          <p:nvPr/>
        </p:nvSpPr>
        <p:spPr>
          <a:xfrm>
            <a:off x="6355080" y="29260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300" dirty="0">
                <a:solidFill>
                  <a:srgbClr val="5F6B6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ทดสอบบนเบราว์เซอร์</a:t>
            </a:r>
            <a:endParaRPr lang="th-TH" sz="1300" dirty="0"/>
          </a:p>
          <a:p>
            <a:pPr indent="0" marL="0">
              <a:buNone/>
            </a:pPr>
            <a:r>
              <a:rPr lang="th-TH" altLang="en-US" sz="1300" dirty="0">
                <a:solidFill>
                  <a:srgbClr val="5F6B6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+ ชุดทดสอบอัตโนมัติ</a:t>
            </a:r>
            <a:endParaRPr lang="th-TH" sz="1300" dirty="0"/>
          </a:p>
        </p:txBody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50224" y="2724912"/>
            <a:ext cx="164592" cy="256032"/>
          </a:xfrm>
          <a:prstGeom prst="rect">
            <a:avLst/>
          </a:prstGeom>
        </p:spPr>
      </p:pic>
      <p:sp>
        <p:nvSpPr>
          <p:cNvPr id="37" name="Shape 29"/>
          <p:cNvSpPr/>
          <p:nvPr/>
        </p:nvSpPr>
        <p:spPr>
          <a:xfrm>
            <a:off x="8869680" y="1783080"/>
            <a:ext cx="246888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38" name="Shape 30"/>
          <p:cNvSpPr/>
          <p:nvPr/>
        </p:nvSpPr>
        <p:spPr>
          <a:xfrm>
            <a:off x="9098280" y="2011680"/>
            <a:ext cx="658368" cy="658368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69456" y="2182856"/>
            <a:ext cx="316017" cy="316017"/>
          </a:xfrm>
          <a:prstGeom prst="rect">
            <a:avLst/>
          </a:prstGeom>
        </p:spPr>
      </p:pic>
      <p:sp>
        <p:nvSpPr>
          <p:cNvPr id="40" name="Text 31"/>
          <p:cNvSpPr txBox="1"/>
          <p:nvPr/>
        </p:nvSpPr>
        <p:spPr>
          <a:xfrm>
            <a:off x="9893808" y="20574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200" b="1" dirty="0">
                <a:solidFill>
                  <a:srgbClr val="52B78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ขั้นที่ 4</a:t>
            </a:r>
            <a:endParaRPr lang="th-TH" sz="1200" dirty="0"/>
          </a:p>
        </p:txBody>
      </p:sp>
      <p:sp>
        <p:nvSpPr>
          <p:cNvPr id="41" name="Text 32"/>
          <p:cNvSpPr txBox="1"/>
          <p:nvPr/>
        </p:nvSpPr>
        <p:spPr>
          <a:xfrm>
            <a:off x="9893808" y="230428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700" b="1" dirty="0">
                <a:solidFill>
                  <a:srgbClr val="163A2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แก้ไข</a:t>
            </a:r>
            <a:endParaRPr lang="th-TH" sz="1700" dirty="0"/>
          </a:p>
        </p:txBody>
      </p:sp>
      <p:sp>
        <p:nvSpPr>
          <p:cNvPr id="42" name="Text 33"/>
          <p:cNvSpPr txBox="1"/>
          <p:nvPr/>
        </p:nvSpPr>
        <p:spPr>
          <a:xfrm>
            <a:off x="9098280" y="29260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300" dirty="0">
                <a:solidFill>
                  <a:srgbClr val="5F6B6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ส่งอาการ Bug กลับไป</a:t>
            </a:r>
            <a:endParaRPr lang="th-TH" sz="1300" dirty="0"/>
          </a:p>
          <a:p>
            <a:pPr indent="0" marL="0">
              <a:buNone/>
            </a:pPr>
            <a:r>
              <a:rPr lang="th-TH" altLang="en-US" sz="1300" dirty="0">
                <a:solidFill>
                  <a:srgbClr val="5F6B6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หรือแก้เอง แล้วทดสอบซ้ำ</a:t>
            </a:r>
            <a:endParaRPr lang="th-TH" sz="1300" dirty="0"/>
          </a:p>
        </p:txBody>
      </p:sp>
      <p:sp>
        <p:nvSpPr>
          <p:cNvPr id="43" name="Shape 34"/>
          <p:cNvSpPr/>
          <p:nvPr/>
        </p:nvSpPr>
        <p:spPr>
          <a:xfrm>
            <a:off x="640080" y="4251960"/>
            <a:ext cx="6492240" cy="1874520"/>
          </a:xfrm>
          <a:prstGeom prst="roundRect">
            <a:avLst>
              <a:gd name="adj" fmla="val 5854"/>
            </a:avLst>
          </a:prstGeom>
          <a:solidFill>
            <a:srgbClr val="EEF8F0"/>
          </a:solidFill>
          <a:ln w="12700">
            <a:solidFill>
              <a:srgbClr val="EEF8F0"/>
            </a:solidFill>
            <a:prstDash val="solid"/>
          </a:ln>
        </p:spPr>
      </p:sp>
      <p:pic>
        <p:nvPicPr>
          <p:cNvPr id="4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8680" y="4480560"/>
            <a:ext cx="384048" cy="384048"/>
          </a:xfrm>
          <a:prstGeom prst="rect">
            <a:avLst/>
          </a:prstGeom>
        </p:spPr>
      </p:pic>
      <p:sp>
        <p:nvSpPr>
          <p:cNvPr id="45" name="Text 35"/>
          <p:cNvSpPr txBox="1"/>
          <p:nvPr/>
        </p:nvSpPr>
        <p:spPr>
          <a:xfrm>
            <a:off x="1417320" y="4480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300" b="1" dirty="0">
                <a:solidFill>
                  <a:srgbClr val="2D6A4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ตัวอย่าง Prompt ที่ใช้จริง</a:t>
            </a:r>
            <a:endParaRPr lang="th-TH" sz="1300" dirty="0"/>
          </a:p>
        </p:txBody>
      </p:sp>
      <p:sp>
        <p:nvSpPr>
          <p:cNvPr id="46" name="Text 36"/>
          <p:cNvSpPr txBox="1"/>
          <p:nvPr/>
        </p:nvSpPr>
        <p:spPr>
          <a:xfrm>
            <a:off x="868680" y="4937760"/>
            <a:ext cx="6035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500" i="1" dirty="0">
                <a:solidFill>
                  <a:srgbClr val="1B1F2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"เขียน PHP รับ JSON ตะกร้าสินค้า แล้วตัดสต็อกใน MySQL ใช้ Prepared Statement และ Transaction ถ้ารายการใดผิดพลาดให้ยกเลิกทั้งบิล"</a:t>
            </a:r>
            <a:endParaRPr lang="th-TH" sz="1500" dirty="0"/>
          </a:p>
        </p:txBody>
      </p:sp>
      <p:sp>
        <p:nvSpPr>
          <p:cNvPr id="47" name="Text 37"/>
          <p:cNvSpPr txBox="1"/>
          <p:nvPr/>
        </p:nvSpPr>
        <p:spPr>
          <a:xfrm>
            <a:off x="7498080" y="42519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500" b="1" dirty="0">
                <a:solidFill>
                  <a:srgbClr val="2D6A4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AI ช่วย</a:t>
            </a:r>
            <a:endParaRPr lang="th-TH" sz="1500" dirty="0"/>
          </a:p>
        </p:txBody>
      </p:sp>
      <p:sp>
        <p:nvSpPr>
          <p:cNvPr id="48" name="Text 38"/>
          <p:cNvSpPr txBox="1"/>
          <p:nvPr/>
        </p:nvSpPr>
        <p:spPr>
          <a:xfrm>
            <a:off x="7498080" y="457200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300" dirty="0">
                <a:solidFill>
                  <a:srgbClr val="1B1F2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ร่างโครงสร้าง 5 โมดูล JS · เขียน PHP API · ฟังก์ชันบาทเป็นคำ · หา CSS ที่ขาดหาย</a:t>
            </a:r>
            <a:endParaRPr lang="th-TH" sz="1300" dirty="0"/>
          </a:p>
        </p:txBody>
      </p:sp>
      <p:sp>
        <p:nvSpPr>
          <p:cNvPr id="49" name="Text 39"/>
          <p:cNvSpPr txBox="1"/>
          <p:nvPr/>
        </p:nvSpPr>
        <p:spPr>
          <a:xfrm>
            <a:off x="7498080" y="53035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500" b="1" dirty="0">
                <a:solidFill>
                  <a:srgbClr val="E76F5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เราทำเอง</a:t>
            </a:r>
            <a:endParaRPr lang="th-TH" sz="1500" dirty="0"/>
          </a:p>
        </p:txBody>
      </p:sp>
      <p:sp>
        <p:nvSpPr>
          <p:cNvPr id="50" name="Text 40"/>
          <p:cNvSpPr txBox="1"/>
          <p:nvPr/>
        </p:nvSpPr>
        <p:spPr>
          <a:xfrm>
            <a:off x="7498080" y="562356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300" dirty="0">
                <a:solidFill>
                  <a:srgbClr val="1B1F2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กำหนด Requirement · ออกแบบฐานข้อมูล · อ่าน ทดสอบ และแก้ทุกไฟล์</a:t>
            </a:r>
            <a:endParaRPr lang="th-TH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300" b="1" dirty="0">
                <a:solidFill>
                  <a:srgbClr val="52B78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หัวข้อที่ 3  ·  Prototype</a:t>
            </a:r>
            <a:endParaRPr lang="th-TH" sz="1300" dirty="0"/>
          </a:p>
        </p:txBody>
      </p:sp>
      <p:sp>
        <p:nvSpPr>
          <p:cNvPr id="3" name="Shape 1"/>
          <p:cNvSpPr/>
          <p:nvPr/>
        </p:nvSpPr>
        <p:spPr>
          <a:xfrm>
            <a:off x="5349240" y="38404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EEF8F0"/>
          </a:solidFill>
          <a:ln w="12700">
            <a:solidFill>
              <a:srgbClr val="EEF8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349240" y="38404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950" dirty="0">
                <a:solidFill>
                  <a:srgbClr val="5F6B6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 ปัญหาที่เลือก</a:t>
            </a:r>
            <a:endParaRPr lang="th-TH" sz="950" dirty="0"/>
          </a:p>
        </p:txBody>
      </p:sp>
      <p:sp>
        <p:nvSpPr>
          <p:cNvPr id="5" name="Shape 3"/>
          <p:cNvSpPr/>
          <p:nvPr/>
        </p:nvSpPr>
        <p:spPr>
          <a:xfrm>
            <a:off x="6601968" y="38404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EEF8F0"/>
          </a:solidFill>
          <a:ln w="12700">
            <a:solidFill>
              <a:srgbClr val="EEF8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01968" y="38404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950" dirty="0">
                <a:solidFill>
                  <a:srgbClr val="5F6B6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 เทคโนโลยีที่ศึกษา</a:t>
            </a:r>
            <a:endParaRPr lang="th-TH" sz="950" dirty="0"/>
          </a:p>
        </p:txBody>
      </p:sp>
      <p:sp>
        <p:nvSpPr>
          <p:cNvPr id="7" name="Shape 5"/>
          <p:cNvSpPr/>
          <p:nvPr/>
        </p:nvSpPr>
        <p:spPr>
          <a:xfrm>
            <a:off x="7854696" y="38404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854696" y="38404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95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 Prototype</a:t>
            </a:r>
            <a:endParaRPr lang="th-TH" sz="950" dirty="0"/>
          </a:p>
        </p:txBody>
      </p:sp>
      <p:sp>
        <p:nvSpPr>
          <p:cNvPr id="9" name="Shape 7"/>
          <p:cNvSpPr/>
          <p:nvPr/>
        </p:nvSpPr>
        <p:spPr>
          <a:xfrm>
            <a:off x="9107424" y="38404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EEF8F0"/>
          </a:solidFill>
          <a:ln w="12700">
            <a:solidFill>
              <a:srgbClr val="EEF8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07424" y="38404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950" dirty="0">
                <a:solidFill>
                  <a:srgbClr val="5F6B6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4 Demo</a:t>
            </a:r>
            <a:endParaRPr lang="th-TH" sz="950" dirty="0"/>
          </a:p>
        </p:txBody>
      </p:sp>
      <p:sp>
        <p:nvSpPr>
          <p:cNvPr id="11" name="Shape 9"/>
          <p:cNvSpPr/>
          <p:nvPr/>
        </p:nvSpPr>
        <p:spPr>
          <a:xfrm>
            <a:off x="10360152" y="38404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EEF8F0"/>
          </a:solidFill>
          <a:ln w="12700">
            <a:solidFill>
              <a:srgbClr val="EEF8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360152" y="38404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950" dirty="0">
                <a:solidFill>
                  <a:srgbClr val="5F6B6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5 ถาม–ตอบ</a:t>
            </a:r>
            <a:endParaRPr lang="th-TH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3200" b="1" dirty="0">
                <a:solidFill>
                  <a:srgbClr val="163A2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ระบบที่พัฒนา</a:t>
            </a:r>
            <a:endParaRPr lang="th-TH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000" dirty="0">
                <a:solidFill>
                  <a:srgbClr val="5F6B6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ผู้นำเสนอ: นายภคพล</a:t>
            </a:r>
            <a:endParaRPr lang="th-TH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0634472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th-TH" altLang="en-US" sz="1000" dirty="0">
                <a:solidFill>
                  <a:srgbClr val="5F6B6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6 / 14</a:t>
            </a:r>
            <a:endParaRPr lang="th-TH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1755648"/>
            <a:ext cx="6638544" cy="3620222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12700">
            <a:solidFill>
              <a:srgbClr val="DDE5E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17" name="Image 0" descr="C:/หัวข้อพิเศษ/backup/img/01_pos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828800"/>
            <a:ext cx="6492240" cy="3473918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640080" y="548640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150" dirty="0">
                <a:solidFill>
                  <a:srgbClr val="5F6B6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หน้าจอจริงบน XAMPP  ·  ซ้าย: การ์ดสินค้า (คลิก = สแกน)  ·  ขวา: ตะกร้าและยอดชำระ</a:t>
            </a:r>
            <a:endParaRPr lang="th-TH" sz="1150" dirty="0"/>
          </a:p>
        </p:txBody>
      </p:sp>
      <p:sp>
        <p:nvSpPr>
          <p:cNvPr id="19" name="Shape 16"/>
          <p:cNvSpPr/>
          <p:nvPr/>
        </p:nvSpPr>
        <p:spPr>
          <a:xfrm>
            <a:off x="7726680" y="1828800"/>
            <a:ext cx="512064" cy="512064"/>
          </a:xfrm>
          <a:prstGeom prst="ellipse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9817" y="1961937"/>
            <a:ext cx="245791" cy="245791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8412480" y="180136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500" b="1" dirty="0">
                <a:solidFill>
                  <a:srgbClr val="1B1F2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สแกนสินค้า</a:t>
            </a:r>
            <a:endParaRPr lang="th-TH" sz="1500" dirty="0"/>
          </a:p>
        </p:txBody>
      </p:sp>
      <p:sp>
        <p:nvSpPr>
          <p:cNvPr id="22" name="Text 18"/>
          <p:cNvSpPr txBox="1"/>
          <p:nvPr/>
        </p:nvSpPr>
        <p:spPr>
          <a:xfrm>
            <a:off x="8412480" y="211226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200" dirty="0">
                <a:solidFill>
                  <a:srgbClr val="5F6B6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จำลองด้วยการคลิกการ์ด</a:t>
            </a:r>
            <a:endParaRPr lang="th-TH" sz="1200" dirty="0"/>
          </a:p>
        </p:txBody>
      </p:sp>
      <p:sp>
        <p:nvSpPr>
          <p:cNvPr id="23" name="Shape 19"/>
          <p:cNvSpPr/>
          <p:nvPr/>
        </p:nvSpPr>
        <p:spPr>
          <a:xfrm>
            <a:off x="7726680" y="2542032"/>
            <a:ext cx="512064" cy="512064"/>
          </a:xfrm>
          <a:prstGeom prst="ellipse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9817" y="2675169"/>
            <a:ext cx="245791" cy="245791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8412480" y="251460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500" b="1" dirty="0">
                <a:solidFill>
                  <a:srgbClr val="1B1F2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ตรวจสต็อก</a:t>
            </a:r>
            <a:endParaRPr lang="th-TH" sz="1500" dirty="0"/>
          </a:p>
        </p:txBody>
      </p:sp>
      <p:sp>
        <p:nvSpPr>
          <p:cNvPr id="26" name="Text 21"/>
          <p:cNvSpPr txBox="1"/>
          <p:nvPr/>
        </p:nvSpPr>
        <p:spPr>
          <a:xfrm>
            <a:off x="8412480" y="282549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200" dirty="0">
                <a:solidFill>
                  <a:srgbClr val="5F6B6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ห้ามขายเกินของที่มี</a:t>
            </a:r>
            <a:endParaRPr lang="th-TH" sz="1200" dirty="0"/>
          </a:p>
        </p:txBody>
      </p:sp>
      <p:sp>
        <p:nvSpPr>
          <p:cNvPr id="27" name="Shape 22"/>
          <p:cNvSpPr/>
          <p:nvPr/>
        </p:nvSpPr>
        <p:spPr>
          <a:xfrm>
            <a:off x="7726680" y="3255264"/>
            <a:ext cx="512064" cy="512064"/>
          </a:xfrm>
          <a:prstGeom prst="ellipse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9817" y="3388401"/>
            <a:ext cx="245791" cy="245791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8412480" y="32278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500" b="1" dirty="0">
                <a:solidFill>
                  <a:srgbClr val="1B1F2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คำนวณยอดอัตโนมัติ</a:t>
            </a:r>
            <a:endParaRPr lang="th-TH" sz="1500" dirty="0"/>
          </a:p>
        </p:txBody>
      </p:sp>
      <p:sp>
        <p:nvSpPr>
          <p:cNvPr id="30" name="Text 24"/>
          <p:cNvSpPr txBox="1"/>
          <p:nvPr/>
        </p:nvSpPr>
        <p:spPr>
          <a:xfrm>
            <a:off x="8412480" y="35387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200" dirty="0">
                <a:solidFill>
                  <a:srgbClr val="5F6B6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ราคา × จำนวน และยอดรวม</a:t>
            </a:r>
            <a:endParaRPr lang="th-TH" sz="1200" dirty="0"/>
          </a:p>
        </p:txBody>
      </p:sp>
      <p:sp>
        <p:nvSpPr>
          <p:cNvPr id="31" name="Shape 25"/>
          <p:cNvSpPr/>
          <p:nvPr/>
        </p:nvSpPr>
        <p:spPr>
          <a:xfrm>
            <a:off x="7726680" y="3968496"/>
            <a:ext cx="512064" cy="512064"/>
          </a:xfrm>
          <a:prstGeom prst="ellipse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9817" y="4101633"/>
            <a:ext cx="245791" cy="245791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8412480" y="3941064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500" b="1" dirty="0">
                <a:solidFill>
                  <a:srgbClr val="1B1F2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ลบรายการ</a:t>
            </a:r>
            <a:endParaRPr lang="th-TH" sz="1500" dirty="0"/>
          </a:p>
        </p:txBody>
      </p:sp>
      <p:sp>
        <p:nvSpPr>
          <p:cNvPr id="34" name="Text 27"/>
          <p:cNvSpPr txBox="1"/>
          <p:nvPr/>
        </p:nvSpPr>
        <p:spPr>
          <a:xfrm>
            <a:off x="8412480" y="42519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200" dirty="0">
                <a:solidFill>
                  <a:srgbClr val="5F6B6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ยอดลด สต็อกคืน</a:t>
            </a:r>
            <a:endParaRPr lang="th-TH" sz="1200" dirty="0"/>
          </a:p>
        </p:txBody>
      </p:sp>
      <p:sp>
        <p:nvSpPr>
          <p:cNvPr id="35" name="Shape 28"/>
          <p:cNvSpPr/>
          <p:nvPr/>
        </p:nvSpPr>
        <p:spPr>
          <a:xfrm>
            <a:off x="7726680" y="4681728"/>
            <a:ext cx="512064" cy="512064"/>
          </a:xfrm>
          <a:prstGeom prst="ellipse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59817" y="4814865"/>
            <a:ext cx="245791" cy="245791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8412480" y="465429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500" b="1" dirty="0">
                <a:solidFill>
                  <a:srgbClr val="1B1F2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ใบเสร็จ + บาทเป็นคำ</a:t>
            </a:r>
            <a:endParaRPr lang="th-TH" sz="1500" dirty="0"/>
          </a:p>
        </p:txBody>
      </p:sp>
      <p:sp>
        <p:nvSpPr>
          <p:cNvPr id="38" name="Text 30"/>
          <p:cNvSpPr txBox="1"/>
          <p:nvPr/>
        </p:nvSpPr>
        <p:spPr>
          <a:xfrm>
            <a:off x="8412480" y="49651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200" dirty="0">
                <a:solidFill>
                  <a:srgbClr val="5F6B6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เลขที่ วันที่ไทย พิมพ์ได้</a:t>
            </a:r>
            <a:endParaRPr lang="th-TH" sz="1200" dirty="0"/>
          </a:p>
        </p:txBody>
      </p:sp>
      <p:sp>
        <p:nvSpPr>
          <p:cNvPr id="39" name="Shape 31"/>
          <p:cNvSpPr/>
          <p:nvPr/>
        </p:nvSpPr>
        <p:spPr>
          <a:xfrm>
            <a:off x="7726680" y="5394960"/>
            <a:ext cx="512064" cy="512064"/>
          </a:xfrm>
          <a:prstGeom prst="ellipse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pic>
        <p:nvPicPr>
          <p:cNvPr id="4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59817" y="5528097"/>
            <a:ext cx="245791" cy="245791"/>
          </a:xfrm>
          <a:prstGeom prst="rect">
            <a:avLst/>
          </a:prstGeom>
        </p:spPr>
      </p:pic>
      <p:sp>
        <p:nvSpPr>
          <p:cNvPr id="41" name="Text 32"/>
          <p:cNvSpPr txBox="1"/>
          <p:nvPr/>
        </p:nvSpPr>
        <p:spPr>
          <a:xfrm>
            <a:off x="8412480" y="536752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500" b="1" dirty="0">
                <a:solidFill>
                  <a:srgbClr val="1B1F2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ตัดสต็อกในฐานข้อมูล</a:t>
            </a:r>
            <a:endParaRPr lang="th-TH" sz="1500" dirty="0"/>
          </a:p>
        </p:txBody>
      </p:sp>
      <p:sp>
        <p:nvSpPr>
          <p:cNvPr id="42" name="Text 33"/>
          <p:cNvSpPr txBox="1"/>
          <p:nvPr/>
        </p:nvSpPr>
        <p:spPr>
          <a:xfrm>
            <a:off x="8412480" y="567842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200" dirty="0">
                <a:solidFill>
                  <a:srgbClr val="5F6B6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Transaction ทั้งบิล</a:t>
            </a:r>
            <a:endParaRPr lang="th-TH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300" b="1" dirty="0">
                <a:solidFill>
                  <a:srgbClr val="52B78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หัวข้อที่ 3  ·  Prototype</a:t>
            </a:r>
            <a:endParaRPr lang="th-TH" sz="1300" dirty="0"/>
          </a:p>
        </p:txBody>
      </p:sp>
      <p:sp>
        <p:nvSpPr>
          <p:cNvPr id="3" name="Shape 1"/>
          <p:cNvSpPr/>
          <p:nvPr/>
        </p:nvSpPr>
        <p:spPr>
          <a:xfrm>
            <a:off x="5349240" y="38404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EEF8F0"/>
          </a:solidFill>
          <a:ln w="12700">
            <a:solidFill>
              <a:srgbClr val="EEF8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349240" y="38404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950" dirty="0">
                <a:solidFill>
                  <a:srgbClr val="5F6B6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 ปัญหาที่เลือก</a:t>
            </a:r>
            <a:endParaRPr lang="th-TH" sz="950" dirty="0"/>
          </a:p>
        </p:txBody>
      </p:sp>
      <p:sp>
        <p:nvSpPr>
          <p:cNvPr id="5" name="Shape 3"/>
          <p:cNvSpPr/>
          <p:nvPr/>
        </p:nvSpPr>
        <p:spPr>
          <a:xfrm>
            <a:off x="6601968" y="38404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EEF8F0"/>
          </a:solidFill>
          <a:ln w="12700">
            <a:solidFill>
              <a:srgbClr val="EEF8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01968" y="38404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950" dirty="0">
                <a:solidFill>
                  <a:srgbClr val="5F6B6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 เทคโนโลยีที่ศึกษา</a:t>
            </a:r>
            <a:endParaRPr lang="th-TH" sz="950" dirty="0"/>
          </a:p>
        </p:txBody>
      </p:sp>
      <p:sp>
        <p:nvSpPr>
          <p:cNvPr id="7" name="Shape 5"/>
          <p:cNvSpPr/>
          <p:nvPr/>
        </p:nvSpPr>
        <p:spPr>
          <a:xfrm>
            <a:off x="7854696" y="38404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854696" y="38404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95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 Prototype</a:t>
            </a:r>
            <a:endParaRPr lang="th-TH" sz="950" dirty="0"/>
          </a:p>
        </p:txBody>
      </p:sp>
      <p:sp>
        <p:nvSpPr>
          <p:cNvPr id="9" name="Shape 7"/>
          <p:cNvSpPr/>
          <p:nvPr/>
        </p:nvSpPr>
        <p:spPr>
          <a:xfrm>
            <a:off x="9107424" y="38404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EEF8F0"/>
          </a:solidFill>
          <a:ln w="12700">
            <a:solidFill>
              <a:srgbClr val="EEF8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07424" y="38404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950" dirty="0">
                <a:solidFill>
                  <a:srgbClr val="5F6B6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4 Demo</a:t>
            </a:r>
            <a:endParaRPr lang="th-TH" sz="950" dirty="0"/>
          </a:p>
        </p:txBody>
      </p:sp>
      <p:sp>
        <p:nvSpPr>
          <p:cNvPr id="11" name="Shape 9"/>
          <p:cNvSpPr/>
          <p:nvPr/>
        </p:nvSpPr>
        <p:spPr>
          <a:xfrm>
            <a:off x="10360152" y="38404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EEF8F0"/>
          </a:solidFill>
          <a:ln w="12700">
            <a:solidFill>
              <a:srgbClr val="EEF8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360152" y="38404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950" dirty="0">
                <a:solidFill>
                  <a:srgbClr val="5F6B6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5 ถาม–ตอบ</a:t>
            </a:r>
            <a:endParaRPr lang="th-TH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3200" b="1" dirty="0">
                <a:solidFill>
                  <a:srgbClr val="163A2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สถาปัตยกรรมระบบ 3 ชั้น</a:t>
            </a:r>
            <a:endParaRPr lang="th-TH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000" dirty="0">
                <a:solidFill>
                  <a:srgbClr val="5F6B6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ผู้นำเสนอ: นายภคพล</a:t>
            </a:r>
            <a:endParaRPr lang="th-TH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0634472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th-TH" altLang="en-US" sz="1000" dirty="0">
                <a:solidFill>
                  <a:srgbClr val="5F6B6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7 / 14</a:t>
            </a:r>
            <a:endParaRPr lang="th-TH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1755648"/>
            <a:ext cx="7644384" cy="3230320"/>
          </a:xfrm>
          <a:prstGeom prst="roundRect">
            <a:avLst>
              <a:gd name="adj" fmla="val 2831"/>
            </a:avLst>
          </a:prstGeom>
          <a:solidFill>
            <a:srgbClr val="FFFFFF"/>
          </a:solidFill>
          <a:ln w="12700">
            <a:solidFill>
              <a:srgbClr val="DDE5E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17" name="Image 0" descr="C:/หัวข้อพิเศษ/backup/img/03_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828800"/>
            <a:ext cx="7498080" cy="3084016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8641080" y="17830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600" b="1" dirty="0">
                <a:solidFill>
                  <a:srgbClr val="163A2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ทำไมเลือกเทคโนโลยีนี้</a:t>
            </a:r>
            <a:endParaRPr lang="th-TH" sz="1600" dirty="0"/>
          </a:p>
        </p:txBody>
      </p:sp>
      <p:sp>
        <p:nvSpPr>
          <p:cNvPr id="19" name="Shape 16"/>
          <p:cNvSpPr/>
          <p:nvPr/>
        </p:nvSpPr>
        <p:spPr>
          <a:xfrm>
            <a:off x="8641080" y="2286000"/>
            <a:ext cx="457200" cy="457200"/>
          </a:xfrm>
          <a:prstGeom prst="ellipse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9952" y="2404872"/>
            <a:ext cx="219456" cy="219456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9235440" y="2267712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250" dirty="0">
                <a:solidFill>
                  <a:srgbClr val="1B1F2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XAMPP ฟรี ติดตั้งง่าย รันบนคอมเครื่องเดียวในร้านได้</a:t>
            </a:r>
            <a:endParaRPr lang="th-TH" sz="1250" dirty="0"/>
          </a:p>
        </p:txBody>
      </p:sp>
      <p:sp>
        <p:nvSpPr>
          <p:cNvPr id="22" name="Shape 18"/>
          <p:cNvSpPr/>
          <p:nvPr/>
        </p:nvSpPr>
        <p:spPr>
          <a:xfrm>
            <a:off x="8641080" y="3154680"/>
            <a:ext cx="457200" cy="457200"/>
          </a:xfrm>
          <a:prstGeom prst="ellipse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9952" y="3273552"/>
            <a:ext cx="219456" cy="219456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9235440" y="3136392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250" dirty="0">
                <a:solidFill>
                  <a:srgbClr val="1B1F2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PHP + MySQL ใช้บน Hosting ราคาถูกได้ทั่วไป</a:t>
            </a:r>
            <a:endParaRPr lang="th-TH" sz="1250" dirty="0"/>
          </a:p>
        </p:txBody>
      </p:sp>
      <p:sp>
        <p:nvSpPr>
          <p:cNvPr id="25" name="Shape 20"/>
          <p:cNvSpPr/>
          <p:nvPr/>
        </p:nvSpPr>
        <p:spPr>
          <a:xfrm>
            <a:off x="8641080" y="4023360"/>
            <a:ext cx="457200" cy="457200"/>
          </a:xfrm>
          <a:prstGeom prst="ellipse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9952" y="4142232"/>
            <a:ext cx="219456" cy="219456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9235440" y="4005072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250" dirty="0">
                <a:solidFill>
                  <a:srgbClr val="1B1F2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ไม่ใช้ Framework จึงเห็นกลไกจริงทุกขั้น</a:t>
            </a:r>
            <a:endParaRPr lang="th-TH" sz="1250" dirty="0"/>
          </a:p>
        </p:txBody>
      </p:sp>
      <p:sp>
        <p:nvSpPr>
          <p:cNvPr id="28" name="Shape 22"/>
          <p:cNvSpPr/>
          <p:nvPr/>
        </p:nvSpPr>
        <p:spPr>
          <a:xfrm>
            <a:off x="8641080" y="4892040"/>
            <a:ext cx="457200" cy="457200"/>
          </a:xfrm>
          <a:prstGeom prst="ellipse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9952" y="5010912"/>
            <a:ext cx="219456" cy="219456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9235440" y="4873752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250" dirty="0">
                <a:solidFill>
                  <a:srgbClr val="1B1F2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แยก JS 5 โมดูล แก้ง่าย ทดสอบแยกได้</a:t>
            </a:r>
            <a:endParaRPr lang="th-TH" sz="1250" dirty="0"/>
          </a:p>
        </p:txBody>
      </p:sp>
      <p:sp>
        <p:nvSpPr>
          <p:cNvPr id="31" name="Shape 24"/>
          <p:cNvSpPr/>
          <p:nvPr/>
        </p:nvSpPr>
        <p:spPr>
          <a:xfrm>
            <a:off x="713232" y="5394960"/>
            <a:ext cx="2423160" cy="438912"/>
          </a:xfrm>
          <a:prstGeom prst="roundRect">
            <a:avLst>
              <a:gd name="adj" fmla="val 50000"/>
            </a:avLst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sp>
        <p:nvSpPr>
          <p:cNvPr id="32" name="Text 25"/>
          <p:cNvSpPr txBox="1"/>
          <p:nvPr/>
        </p:nvSpPr>
        <p:spPr>
          <a:xfrm>
            <a:off x="713232" y="5394960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1200" b="1" dirty="0">
                <a:solidFill>
                  <a:srgbClr val="2D6A4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HTML · CSS · JavaScript</a:t>
            </a:r>
            <a:endParaRPr lang="th-TH" sz="1200" dirty="0"/>
          </a:p>
        </p:txBody>
      </p:sp>
      <p:sp>
        <p:nvSpPr>
          <p:cNvPr id="33" name="Shape 26"/>
          <p:cNvSpPr/>
          <p:nvPr/>
        </p:nvSpPr>
        <p:spPr>
          <a:xfrm>
            <a:off x="3300984" y="5394960"/>
            <a:ext cx="960120" cy="438912"/>
          </a:xfrm>
          <a:prstGeom prst="roundRect">
            <a:avLst>
              <a:gd name="adj" fmla="val 50000"/>
            </a:avLst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3300984" y="5394960"/>
            <a:ext cx="960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1200" b="1" dirty="0">
                <a:solidFill>
                  <a:srgbClr val="2D6A4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PHP 8.2</a:t>
            </a:r>
            <a:endParaRPr lang="th-TH" sz="1200" dirty="0"/>
          </a:p>
        </p:txBody>
      </p:sp>
      <p:sp>
        <p:nvSpPr>
          <p:cNvPr id="35" name="Shape 28"/>
          <p:cNvSpPr/>
          <p:nvPr/>
        </p:nvSpPr>
        <p:spPr>
          <a:xfrm>
            <a:off x="4425696" y="5394960"/>
            <a:ext cx="1691640" cy="438912"/>
          </a:xfrm>
          <a:prstGeom prst="roundRect">
            <a:avLst>
              <a:gd name="adj" fmla="val 50000"/>
            </a:avLst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sp>
        <p:nvSpPr>
          <p:cNvPr id="36" name="Text 29"/>
          <p:cNvSpPr txBox="1"/>
          <p:nvPr/>
        </p:nvSpPr>
        <p:spPr>
          <a:xfrm>
            <a:off x="4425696" y="5394960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1200" b="1" dirty="0">
                <a:solidFill>
                  <a:srgbClr val="2D6A4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MariaDB / MySQL</a:t>
            </a:r>
            <a:endParaRPr lang="th-TH" sz="1200" dirty="0"/>
          </a:p>
        </p:txBody>
      </p:sp>
      <p:sp>
        <p:nvSpPr>
          <p:cNvPr id="37" name="Shape 30"/>
          <p:cNvSpPr/>
          <p:nvPr/>
        </p:nvSpPr>
        <p:spPr>
          <a:xfrm>
            <a:off x="6281928" y="5394960"/>
            <a:ext cx="777240" cy="438912"/>
          </a:xfrm>
          <a:prstGeom prst="roundRect">
            <a:avLst>
              <a:gd name="adj" fmla="val 50000"/>
            </a:avLst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sp>
        <p:nvSpPr>
          <p:cNvPr id="38" name="Text 31"/>
          <p:cNvSpPr txBox="1"/>
          <p:nvPr/>
        </p:nvSpPr>
        <p:spPr>
          <a:xfrm>
            <a:off x="6281928" y="5394960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1200" b="1" dirty="0">
                <a:solidFill>
                  <a:srgbClr val="2D6A4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XAMPP</a:t>
            </a:r>
            <a:endParaRPr lang="th-TH" sz="1200" dirty="0"/>
          </a:p>
        </p:txBody>
      </p:sp>
      <p:sp>
        <p:nvSpPr>
          <p:cNvPr id="39" name="Shape 32"/>
          <p:cNvSpPr/>
          <p:nvPr/>
        </p:nvSpPr>
        <p:spPr>
          <a:xfrm>
            <a:off x="7223760" y="5394960"/>
            <a:ext cx="960120" cy="438912"/>
          </a:xfrm>
          <a:prstGeom prst="roundRect">
            <a:avLst>
              <a:gd name="adj" fmla="val 50000"/>
            </a:avLst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7223760" y="5394960"/>
            <a:ext cx="960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1200" b="1" dirty="0">
                <a:solidFill>
                  <a:srgbClr val="2D6A4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ChatGPT</a:t>
            </a:r>
            <a:endParaRPr lang="th-TH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300" b="1" dirty="0">
                <a:solidFill>
                  <a:srgbClr val="52B78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หัวข้อที่ 3  ·  Prototype</a:t>
            </a:r>
            <a:endParaRPr lang="th-TH" sz="1300" dirty="0"/>
          </a:p>
        </p:txBody>
      </p:sp>
      <p:sp>
        <p:nvSpPr>
          <p:cNvPr id="3" name="Shape 1"/>
          <p:cNvSpPr/>
          <p:nvPr/>
        </p:nvSpPr>
        <p:spPr>
          <a:xfrm>
            <a:off x="5349240" y="38404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EEF8F0"/>
          </a:solidFill>
          <a:ln w="12700">
            <a:solidFill>
              <a:srgbClr val="EEF8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349240" y="38404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950" dirty="0">
                <a:solidFill>
                  <a:srgbClr val="5F6B6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 ปัญหาที่เลือก</a:t>
            </a:r>
            <a:endParaRPr lang="th-TH" sz="950" dirty="0"/>
          </a:p>
        </p:txBody>
      </p:sp>
      <p:sp>
        <p:nvSpPr>
          <p:cNvPr id="5" name="Shape 3"/>
          <p:cNvSpPr/>
          <p:nvPr/>
        </p:nvSpPr>
        <p:spPr>
          <a:xfrm>
            <a:off x="6601968" y="38404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EEF8F0"/>
          </a:solidFill>
          <a:ln w="12700">
            <a:solidFill>
              <a:srgbClr val="EEF8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01968" y="38404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950" dirty="0">
                <a:solidFill>
                  <a:srgbClr val="5F6B6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 เทคโนโลยีที่ศึกษา</a:t>
            </a:r>
            <a:endParaRPr lang="th-TH" sz="950" dirty="0"/>
          </a:p>
        </p:txBody>
      </p:sp>
      <p:sp>
        <p:nvSpPr>
          <p:cNvPr id="7" name="Shape 5"/>
          <p:cNvSpPr/>
          <p:nvPr/>
        </p:nvSpPr>
        <p:spPr>
          <a:xfrm>
            <a:off x="7854696" y="38404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854696" y="38404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95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 Prototype</a:t>
            </a:r>
            <a:endParaRPr lang="th-TH" sz="950" dirty="0"/>
          </a:p>
        </p:txBody>
      </p:sp>
      <p:sp>
        <p:nvSpPr>
          <p:cNvPr id="9" name="Shape 7"/>
          <p:cNvSpPr/>
          <p:nvPr/>
        </p:nvSpPr>
        <p:spPr>
          <a:xfrm>
            <a:off x="9107424" y="38404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EEF8F0"/>
          </a:solidFill>
          <a:ln w="12700">
            <a:solidFill>
              <a:srgbClr val="EEF8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07424" y="38404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950" dirty="0">
                <a:solidFill>
                  <a:srgbClr val="5F6B6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4 Demo</a:t>
            </a:r>
            <a:endParaRPr lang="th-TH" sz="950" dirty="0"/>
          </a:p>
        </p:txBody>
      </p:sp>
      <p:sp>
        <p:nvSpPr>
          <p:cNvPr id="11" name="Shape 9"/>
          <p:cNvSpPr/>
          <p:nvPr/>
        </p:nvSpPr>
        <p:spPr>
          <a:xfrm>
            <a:off x="10360152" y="38404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EEF8F0"/>
          </a:solidFill>
          <a:ln w="12700">
            <a:solidFill>
              <a:srgbClr val="EEF8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360152" y="38404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950" dirty="0">
                <a:solidFill>
                  <a:srgbClr val="5F6B6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5 ถาม–ตอบ</a:t>
            </a:r>
            <a:endParaRPr lang="th-TH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3200" b="1" dirty="0">
                <a:solidFill>
                  <a:srgbClr val="163A2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กลไกสำคัญ: ตัดสต็อกให้ปลอดภัย</a:t>
            </a:r>
            <a:endParaRPr lang="th-TH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000" dirty="0">
                <a:solidFill>
                  <a:srgbClr val="5F6B6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ผู้นำเสนอ: นายภคพล</a:t>
            </a:r>
            <a:endParaRPr lang="th-TH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0634472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th-TH" altLang="en-US" sz="1000" dirty="0">
                <a:solidFill>
                  <a:srgbClr val="5F6B6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8 / 14</a:t>
            </a:r>
            <a:endParaRPr lang="th-TH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1783080"/>
            <a:ext cx="5760720" cy="3611880"/>
          </a:xfrm>
          <a:prstGeom prst="roundRect">
            <a:avLst>
              <a:gd name="adj" fmla="val 3038"/>
            </a:avLst>
          </a:prstGeom>
          <a:solidFill>
            <a:srgbClr val="1E2A25"/>
          </a:solidFill>
          <a:ln w="12700">
            <a:solidFill>
              <a:srgbClr val="1E2A2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8680" y="1920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100" dirty="0">
                <a:solidFill>
                  <a:srgbClr val="95D5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api/update_stock.php</a:t>
            </a:r>
            <a:endParaRPr lang="th-TH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2286000"/>
            <a:ext cx="53949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th-TH" alt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$conn-&gt;begin_transaction();</a:t>
            </a:r>
            <a:endParaRPr lang="th-TH" sz="1250" dirty="0"/>
          </a:p>
          <a:p>
            <a:pPr indent="0" marL="0">
              <a:lnSpc>
                <a:spcPct val="105000"/>
              </a:lnSpc>
              <a:buNone/>
            </a:pPr>
            <a:r>
              <a:rPr lang="th-TH" alt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$sql = "UPDATE products SET stock = stock - ?</a:t>
            </a:r>
            <a:endParaRPr lang="th-TH" sz="1250" dirty="0"/>
          </a:p>
          <a:p>
            <a:pPr indent="0" marL="0">
              <a:lnSpc>
                <a:spcPct val="105000"/>
              </a:lnSpc>
              <a:buNone/>
            </a:pPr>
            <a:r>
              <a:rPr lang="th-TH" altLang="en-US" sz="1250" dirty="0">
                <a:solidFill>
                  <a:srgbClr val="FFB4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WHERE barcode = ? AND stock &gt;= ?";</a:t>
            </a:r>
            <a:endParaRPr lang="th-TH" sz="1250" dirty="0"/>
          </a:p>
          <a:p>
            <a:pPr indent="0" marL="0">
              <a:lnSpc>
                <a:spcPct val="105000"/>
              </a:lnSpc>
              <a:buNone/>
            </a:pPr>
            <a:r>
              <a:rPr lang="th-TH" alt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$stmt = $conn-&gt;prepare($sql);</a:t>
            </a:r>
            <a:endParaRPr lang="th-TH" sz="1250" dirty="0"/>
          </a:p>
          <a:p>
            <a:pPr indent="0" marL="0">
              <a:lnSpc>
                <a:spcPct val="105000"/>
              </a:lnSpc>
              <a:buNone/>
            </a:pPr>
            <a:r>
              <a:rPr lang="th-TH" alt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foreach ($cart as $item) {</a:t>
            </a:r>
            <a:endParaRPr lang="th-TH" sz="1250" dirty="0"/>
          </a:p>
          <a:p>
            <a:pPr indent="0" marL="0">
              <a:lnSpc>
                <a:spcPct val="105000"/>
              </a:lnSpc>
              <a:buNone/>
            </a:pPr>
            <a:r>
              <a:rPr lang="th-TH" alt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$stmt-&gt;bind_param("isi", $qty, $bc, $qty);</a:t>
            </a:r>
            <a:endParaRPr lang="th-TH" sz="1250" dirty="0"/>
          </a:p>
          <a:p>
            <a:pPr indent="0" marL="0">
              <a:lnSpc>
                <a:spcPct val="105000"/>
              </a:lnSpc>
              <a:buNone/>
            </a:pPr>
            <a:r>
              <a:rPr lang="th-TH" alt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$stmt-&gt;execute();</a:t>
            </a:r>
            <a:endParaRPr lang="th-TH" sz="1250" dirty="0"/>
          </a:p>
          <a:p>
            <a:pPr indent="0" marL="0">
              <a:lnSpc>
                <a:spcPct val="105000"/>
              </a:lnSpc>
              <a:buNone/>
            </a:pPr>
            <a:r>
              <a:rPr lang="th-TH" altLang="en-US" sz="1250" dirty="0">
                <a:solidFill>
                  <a:srgbClr val="FFB4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($stmt-&gt;affected_rows === 0)</a:t>
            </a:r>
            <a:endParaRPr lang="th-TH" sz="1250" dirty="0"/>
          </a:p>
          <a:p>
            <a:pPr indent="0" marL="0">
              <a:lnSpc>
                <a:spcPct val="105000"/>
              </a:lnSpc>
              <a:buNone/>
            </a:pPr>
            <a:r>
              <a:rPr lang="th-TH" altLang="en-US" sz="1250" dirty="0">
                <a:solidFill>
                  <a:srgbClr val="FFB4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throw new Exception("สต็อกไม่พอ");</a:t>
            </a:r>
            <a:endParaRPr lang="th-TH" sz="1250" dirty="0"/>
          </a:p>
          <a:p>
            <a:pPr indent="0" marL="0">
              <a:lnSpc>
                <a:spcPct val="105000"/>
              </a:lnSpc>
              <a:buNone/>
            </a:pPr>
            <a:r>
              <a:rPr lang="th-TH" alt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th-TH" sz="1250" dirty="0"/>
          </a:p>
          <a:p>
            <a:pPr indent="0" marL="0">
              <a:lnSpc>
                <a:spcPct val="105000"/>
              </a:lnSpc>
              <a:buNone/>
            </a:pPr>
            <a:r>
              <a:rPr lang="th-TH" altLang="en-US" sz="1250" dirty="0">
                <a:solidFill>
                  <a:srgbClr val="95D5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$conn-&gt;commit();   // error → rollback()</a:t>
            </a:r>
            <a:endParaRPr lang="th-TH" sz="1250" dirty="0"/>
          </a:p>
        </p:txBody>
      </p:sp>
      <p:sp>
        <p:nvSpPr>
          <p:cNvPr id="19" name="Shape 17"/>
          <p:cNvSpPr/>
          <p:nvPr/>
        </p:nvSpPr>
        <p:spPr>
          <a:xfrm>
            <a:off x="6720840" y="1783080"/>
            <a:ext cx="4828032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931152" y="2002536"/>
            <a:ext cx="640080" cy="640080"/>
          </a:xfrm>
          <a:prstGeom prst="ellipse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97573" y="2168957"/>
            <a:ext cx="307238" cy="307238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7772400" y="1920240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700" b="1" dirty="0">
                <a:solidFill>
                  <a:srgbClr val="163A2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Transaction</a:t>
            </a:r>
            <a:endParaRPr lang="th-TH" sz="1700" dirty="0"/>
          </a:p>
        </p:txBody>
      </p:sp>
      <p:sp>
        <p:nvSpPr>
          <p:cNvPr id="23" name="Text 20"/>
          <p:cNvSpPr txBox="1"/>
          <p:nvPr/>
        </p:nvSpPr>
        <p:spPr>
          <a:xfrm>
            <a:off x="7772400" y="2267712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250" dirty="0">
                <a:solidFill>
                  <a:srgbClr val="5F6B6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ทั้งบิลสำเร็จพร้อมกัน หรือยกเลิกทั้งบิล (commit / rollback)</a:t>
            </a:r>
            <a:endParaRPr lang="th-TH" sz="1250" dirty="0"/>
          </a:p>
        </p:txBody>
      </p:sp>
      <p:sp>
        <p:nvSpPr>
          <p:cNvPr id="24" name="Shape 21"/>
          <p:cNvSpPr/>
          <p:nvPr/>
        </p:nvSpPr>
        <p:spPr>
          <a:xfrm>
            <a:off x="6720840" y="3017520"/>
            <a:ext cx="4828032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6931152" y="3236976"/>
            <a:ext cx="640080" cy="640080"/>
          </a:xfrm>
          <a:prstGeom prst="ellipse">
            <a:avLst/>
          </a:prstGeom>
          <a:solidFill>
            <a:srgbClr val="FDECE7"/>
          </a:solidFill>
          <a:ln w="12700">
            <a:solidFill>
              <a:srgbClr val="FDECE7"/>
            </a:solidFill>
            <a:prstDash val="solid"/>
          </a:ln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7573" y="3403397"/>
            <a:ext cx="307238" cy="307238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7772400" y="3154680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700" b="1" dirty="0">
                <a:solidFill>
                  <a:srgbClr val="163A2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Prepared Statement</a:t>
            </a:r>
            <a:endParaRPr lang="th-TH" sz="1700" dirty="0"/>
          </a:p>
        </p:txBody>
      </p:sp>
      <p:sp>
        <p:nvSpPr>
          <p:cNvPr id="28" name="Text 24"/>
          <p:cNvSpPr txBox="1"/>
          <p:nvPr/>
        </p:nvSpPr>
        <p:spPr>
          <a:xfrm>
            <a:off x="7772400" y="3502152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250" dirty="0">
                <a:solidFill>
                  <a:srgbClr val="5F6B6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ใช้ ? แยกข้อมูลออกจากคำสั่ง SQL ป้องกัน SQL Injection</a:t>
            </a:r>
            <a:endParaRPr lang="th-TH" sz="1250" dirty="0"/>
          </a:p>
        </p:txBody>
      </p:sp>
      <p:sp>
        <p:nvSpPr>
          <p:cNvPr id="29" name="Shape 25"/>
          <p:cNvSpPr/>
          <p:nvPr/>
        </p:nvSpPr>
        <p:spPr>
          <a:xfrm>
            <a:off x="6720840" y="4251960"/>
            <a:ext cx="4828032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30" name="Shape 26"/>
          <p:cNvSpPr/>
          <p:nvPr/>
        </p:nvSpPr>
        <p:spPr>
          <a:xfrm>
            <a:off x="6931152" y="4471416"/>
            <a:ext cx="640080" cy="640080"/>
          </a:xfrm>
          <a:prstGeom prst="ellipse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7573" y="4637837"/>
            <a:ext cx="307238" cy="307238"/>
          </a:xfrm>
          <a:prstGeom prst="rect">
            <a:avLst/>
          </a:prstGeom>
        </p:spPr>
      </p:pic>
      <p:sp>
        <p:nvSpPr>
          <p:cNvPr id="32" name="Text 27"/>
          <p:cNvSpPr txBox="1"/>
          <p:nvPr/>
        </p:nvSpPr>
        <p:spPr>
          <a:xfrm>
            <a:off x="7772400" y="4389120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700" b="1" dirty="0">
                <a:solidFill>
                  <a:srgbClr val="163A2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stock &gt;= ?</a:t>
            </a:r>
            <a:endParaRPr lang="th-TH" sz="1700" dirty="0"/>
          </a:p>
        </p:txBody>
      </p:sp>
      <p:sp>
        <p:nvSpPr>
          <p:cNvPr id="33" name="Text 28"/>
          <p:cNvSpPr txBox="1"/>
          <p:nvPr/>
        </p:nvSpPr>
        <p:spPr>
          <a:xfrm>
            <a:off x="7772400" y="4736592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250" dirty="0">
                <a:solidFill>
                  <a:srgbClr val="5F6B6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กันสต็อกติดลบ เมื่อ 2 เครื่องขายชิ้นสุดท้ายพร้อมกัน</a:t>
            </a:r>
            <a:endParaRPr lang="th-TH" sz="1250" dirty="0"/>
          </a:p>
        </p:txBody>
      </p:sp>
      <p:sp>
        <p:nvSpPr>
          <p:cNvPr id="34" name="Shape 29"/>
          <p:cNvSpPr/>
          <p:nvPr/>
        </p:nvSpPr>
        <p:spPr>
          <a:xfrm>
            <a:off x="640080" y="5596128"/>
            <a:ext cx="10908792" cy="658368"/>
          </a:xfrm>
          <a:prstGeom prst="roundRect">
            <a:avLst>
              <a:gd name="adj" fmla="val 16667"/>
            </a:avLst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sp>
        <p:nvSpPr>
          <p:cNvPr id="35" name="Text 30"/>
          <p:cNvSpPr txBox="1"/>
          <p:nvPr/>
        </p:nvSpPr>
        <p:spPr>
          <a:xfrm>
            <a:off x="868680" y="5596128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altLang="en-US" sz="1400" b="1" dirty="0">
                <a:solidFill>
                  <a:srgbClr val="163A2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ตรวจสต็อก 3 ชั้น:</a:t>
            </a:r>
            <a:pPr indent="0" marL="0">
              <a:buNone/>
            </a:pPr>
            <a:r>
              <a:rPr lang="th-TH" altLang="en-US" sz="1400" dirty="0">
                <a:solidFill>
                  <a:srgbClr val="163A2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   ① หน้าเว็บ (cart.js ไม่ให้เพิ่มเกิน)   →   ② PHP (stock &gt;= ?)   →   ③ ฐานข้อมูล (CHECK stock &gt;= 0)</a:t>
            </a:r>
            <a:endParaRPr lang="th-TH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3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300" b="1" dirty="0">
                <a:solidFill>
                  <a:srgbClr val="52B78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หัวข้อที่ 4  ·  Demo  ·  6–13 นาที</a:t>
            </a:r>
            <a:endParaRPr lang="th-TH" sz="1300" dirty="0"/>
          </a:p>
        </p:txBody>
      </p:sp>
      <p:sp>
        <p:nvSpPr>
          <p:cNvPr id="3" name="Shape 1"/>
          <p:cNvSpPr/>
          <p:nvPr/>
        </p:nvSpPr>
        <p:spPr>
          <a:xfrm>
            <a:off x="5349240" y="38404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24503F"/>
          </a:solidFill>
          <a:ln w="12700">
            <a:solidFill>
              <a:srgbClr val="24503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349240" y="38404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950" dirty="0">
                <a:solidFill>
                  <a:srgbClr val="95D5B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 ปัญหาที่เลือก</a:t>
            </a:r>
            <a:endParaRPr lang="th-TH" sz="950" dirty="0"/>
          </a:p>
        </p:txBody>
      </p:sp>
      <p:sp>
        <p:nvSpPr>
          <p:cNvPr id="5" name="Shape 3"/>
          <p:cNvSpPr/>
          <p:nvPr/>
        </p:nvSpPr>
        <p:spPr>
          <a:xfrm>
            <a:off x="6601968" y="38404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24503F"/>
          </a:solidFill>
          <a:ln w="12700">
            <a:solidFill>
              <a:srgbClr val="24503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01968" y="38404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950" dirty="0">
                <a:solidFill>
                  <a:srgbClr val="95D5B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 เทคโนโลยีที่ศึกษา</a:t>
            </a:r>
            <a:endParaRPr lang="th-TH" sz="950" dirty="0"/>
          </a:p>
        </p:txBody>
      </p:sp>
      <p:sp>
        <p:nvSpPr>
          <p:cNvPr id="7" name="Shape 5"/>
          <p:cNvSpPr/>
          <p:nvPr/>
        </p:nvSpPr>
        <p:spPr>
          <a:xfrm>
            <a:off x="7854696" y="38404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24503F"/>
          </a:solidFill>
          <a:ln w="12700">
            <a:solidFill>
              <a:srgbClr val="2450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854696" y="38404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950" dirty="0">
                <a:solidFill>
                  <a:srgbClr val="95D5B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 Prototype</a:t>
            </a:r>
            <a:endParaRPr lang="th-TH" sz="950" dirty="0"/>
          </a:p>
        </p:txBody>
      </p:sp>
      <p:sp>
        <p:nvSpPr>
          <p:cNvPr id="9" name="Shape 7"/>
          <p:cNvSpPr/>
          <p:nvPr/>
        </p:nvSpPr>
        <p:spPr>
          <a:xfrm>
            <a:off x="9107424" y="38404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07424" y="38404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950" b="1" dirty="0">
                <a:solidFill>
                  <a:srgbClr val="163A2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4 Demo</a:t>
            </a:r>
            <a:endParaRPr lang="th-TH" sz="950" dirty="0"/>
          </a:p>
        </p:txBody>
      </p:sp>
      <p:sp>
        <p:nvSpPr>
          <p:cNvPr id="11" name="Shape 9"/>
          <p:cNvSpPr/>
          <p:nvPr/>
        </p:nvSpPr>
        <p:spPr>
          <a:xfrm>
            <a:off x="10360152" y="38404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24503F"/>
          </a:solidFill>
          <a:ln w="12700">
            <a:solidFill>
              <a:srgbClr val="24503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360152" y="38404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950" dirty="0">
                <a:solidFill>
                  <a:srgbClr val="95D5B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5 ถาม–ตอบ</a:t>
            </a:r>
            <a:endParaRPr lang="th-TH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000" dirty="0">
                <a:solidFill>
                  <a:srgbClr val="95D5B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ผู้นำเสนอ: นายวิทยา + นายภคพล</a:t>
            </a:r>
            <a:endParaRPr lang="th-TH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0634472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th-TH" altLang="en-US" sz="1000" dirty="0">
                <a:solidFill>
                  <a:srgbClr val="95D5B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9 / 14</a:t>
            </a:r>
            <a:endParaRPr lang="th-TH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82296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44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Live Demo</a:t>
            </a:r>
            <a:endParaRPr lang="th-TH" sz="4400" dirty="0"/>
          </a:p>
        </p:txBody>
      </p:sp>
      <p:sp>
        <p:nvSpPr>
          <p:cNvPr id="16" name="Shape 14"/>
          <p:cNvSpPr/>
          <p:nvPr/>
        </p:nvSpPr>
        <p:spPr>
          <a:xfrm>
            <a:off x="640080" y="2011680"/>
            <a:ext cx="402336" cy="402336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20116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1400" b="1" dirty="0">
                <a:solidFill>
                  <a:srgbClr val="163A2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</a:t>
            </a:r>
            <a:endParaRPr lang="th-TH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2048256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550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โหลดหน้าระบบ: สินค้าและสต็อกดึงจาก MySQL</a:t>
            </a:r>
            <a:endParaRPr lang="th-TH" sz="1550" dirty="0"/>
          </a:p>
        </p:txBody>
      </p:sp>
      <p:sp>
        <p:nvSpPr>
          <p:cNvPr id="19" name="Shape 17"/>
          <p:cNvSpPr/>
          <p:nvPr/>
        </p:nvSpPr>
        <p:spPr>
          <a:xfrm>
            <a:off x="640080" y="2596896"/>
            <a:ext cx="402336" cy="402336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25968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1400" b="1" dirty="0">
                <a:solidFill>
                  <a:srgbClr val="163A2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</a:t>
            </a:r>
            <a:endParaRPr lang="th-TH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234440" y="2633472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550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สแกนหลายชิ้น สินค้าเดิมรวมบรรทัดเดียว ยอดขึ้นทันที</a:t>
            </a:r>
            <a:endParaRPr lang="th-TH" sz="1550" dirty="0"/>
          </a:p>
        </p:txBody>
      </p:sp>
      <p:sp>
        <p:nvSpPr>
          <p:cNvPr id="22" name="Shape 20"/>
          <p:cNvSpPr/>
          <p:nvPr/>
        </p:nvSpPr>
        <p:spPr>
          <a:xfrm>
            <a:off x="640080" y="3182112"/>
            <a:ext cx="402336" cy="402336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0080" y="31821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1400" b="1" dirty="0">
                <a:solidFill>
                  <a:srgbClr val="163A2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</a:t>
            </a:r>
            <a:endParaRPr lang="th-TH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234440" y="3218688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550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สแกนจนของหมด: การ์ดจาง กดไม่ได้</a:t>
            </a:r>
            <a:endParaRPr lang="th-TH" sz="1550" dirty="0"/>
          </a:p>
        </p:txBody>
      </p:sp>
      <p:sp>
        <p:nvSpPr>
          <p:cNvPr id="25" name="Shape 23"/>
          <p:cNvSpPr/>
          <p:nvPr/>
        </p:nvSpPr>
        <p:spPr>
          <a:xfrm>
            <a:off x="640080" y="3767328"/>
            <a:ext cx="402336" cy="402336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0080" y="37673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1400" b="1" dirty="0">
                <a:solidFill>
                  <a:srgbClr val="163A2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4</a:t>
            </a:r>
            <a:endParaRPr lang="th-TH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234440" y="3803904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550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ลบรายการ: ยอดลดลง สต็อกคืน</a:t>
            </a:r>
            <a:endParaRPr lang="th-TH" sz="1550" dirty="0"/>
          </a:p>
        </p:txBody>
      </p:sp>
      <p:sp>
        <p:nvSpPr>
          <p:cNvPr id="28" name="Shape 26"/>
          <p:cNvSpPr/>
          <p:nvPr/>
        </p:nvSpPr>
        <p:spPr>
          <a:xfrm>
            <a:off x="640080" y="4352544"/>
            <a:ext cx="402336" cy="402336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0080" y="43525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1400" b="1" dirty="0">
                <a:solidFill>
                  <a:srgbClr val="163A2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5</a:t>
            </a:r>
            <a:endParaRPr lang="th-TH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1234440" y="438912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550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ชำระเงิน: ใบเสร็จ + บาทเป็นคำ → พิมพ์</a:t>
            </a:r>
            <a:endParaRPr lang="th-TH" sz="1550" dirty="0"/>
          </a:p>
        </p:txBody>
      </p:sp>
      <p:sp>
        <p:nvSpPr>
          <p:cNvPr id="31" name="Shape 29"/>
          <p:cNvSpPr/>
          <p:nvPr/>
        </p:nvSpPr>
        <p:spPr>
          <a:xfrm>
            <a:off x="640080" y="4937760"/>
            <a:ext cx="402336" cy="402336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40080" y="4937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1400" b="1" dirty="0">
                <a:solidFill>
                  <a:srgbClr val="163A2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6</a:t>
            </a:r>
            <a:endParaRPr lang="th-TH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1234440" y="4974336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550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ปิดใบเสร็จ แล้วดู phpMyAdmin ว่าสต็อกถูกตัดจริง</a:t>
            </a:r>
            <a:endParaRPr lang="th-TH" sz="1550" dirty="0"/>
          </a:p>
        </p:txBody>
      </p:sp>
      <p:sp>
        <p:nvSpPr>
          <p:cNvPr id="34" name="Shape 32"/>
          <p:cNvSpPr/>
          <p:nvPr/>
        </p:nvSpPr>
        <p:spPr>
          <a:xfrm>
            <a:off x="640080" y="5522976"/>
            <a:ext cx="402336" cy="402336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40080" y="55229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1400" b="1" dirty="0">
                <a:solidFill>
                  <a:srgbClr val="163A2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7</a:t>
            </a:r>
            <a:endParaRPr lang="th-TH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1234440" y="5559552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550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รันชุดทดสอบ node tests/test_logic.mjs → 14/14</a:t>
            </a:r>
            <a:endParaRPr lang="th-TH" sz="1550" dirty="0"/>
          </a:p>
        </p:txBody>
      </p:sp>
      <p:sp>
        <p:nvSpPr>
          <p:cNvPr id="37" name="Text 35"/>
          <p:cNvSpPr txBox="1"/>
          <p:nvPr/>
        </p:nvSpPr>
        <p:spPr>
          <a:xfrm>
            <a:off x="640080" y="614476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100" dirty="0">
                <a:solidFill>
                  <a:srgbClr val="52B78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●  </a:t>
            </a:r>
            <a:pPr indent="0" marL="0">
              <a:buNone/>
            </a:pPr>
            <a:r>
              <a:rPr lang="th-TH" altLang="en-US" sz="1100" dirty="0">
                <a:solidFill>
                  <a:srgbClr val="95D5B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ขั้น 1–4: นายวิทยา พูด / นายภคพล คลิก      </a:t>
            </a:r>
            <a:pPr indent="0" marL="0">
              <a:buNone/>
            </a:pPr>
            <a:r>
              <a:rPr lang="th-TH" altLang="en-US" sz="1100" dirty="0">
                <a:solidFill>
                  <a:srgbClr val="F4A26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●  </a:t>
            </a:r>
            <a:pPr indent="0" marL="0">
              <a:buNone/>
            </a:pPr>
            <a:r>
              <a:rPr lang="th-TH" altLang="en-US" sz="1100" dirty="0">
                <a:solidFill>
                  <a:srgbClr val="95D5B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ขั้น 5–7: นายภคพล พูด / นายวิทยา คลิก</a:t>
            </a:r>
            <a:endParaRPr lang="th-TH" sz="1100" dirty="0"/>
          </a:p>
        </p:txBody>
      </p:sp>
      <p:sp>
        <p:nvSpPr>
          <p:cNvPr id="38" name="Shape 36"/>
          <p:cNvSpPr/>
          <p:nvPr/>
        </p:nvSpPr>
        <p:spPr>
          <a:xfrm>
            <a:off x="7744968" y="841248"/>
            <a:ext cx="3803904" cy="3866606"/>
          </a:xfrm>
          <a:prstGeom prst="roundRect">
            <a:avLst>
              <a:gd name="adj" fmla="val 2404"/>
            </a:avLst>
          </a:prstGeom>
          <a:solidFill>
            <a:srgbClr val="FFFFFF"/>
          </a:solidFill>
          <a:ln w="12700">
            <a:solidFill>
              <a:srgbClr val="DDE5E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39" name="Image 0" descr="C:\Users\Sompong\AppData\Local\Temp\claude\c-------------\9c712c20-6e16-447e-a4dc-77eb0bcd1417\scratchpad\deck\receipt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914400"/>
            <a:ext cx="3657600" cy="3720302"/>
          </a:xfrm>
          <a:prstGeom prst="rect">
            <a:avLst/>
          </a:prstGeom>
        </p:spPr>
      </p:pic>
      <p:sp>
        <p:nvSpPr>
          <p:cNvPr id="40" name="Shape 37"/>
          <p:cNvSpPr/>
          <p:nvPr/>
        </p:nvSpPr>
        <p:spPr>
          <a:xfrm>
            <a:off x="7818120" y="4937760"/>
            <a:ext cx="457200" cy="45720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4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6992" y="5056632"/>
            <a:ext cx="219456" cy="219456"/>
          </a:xfrm>
          <a:prstGeom prst="rect">
            <a:avLst/>
          </a:prstGeom>
        </p:spPr>
      </p:pic>
      <p:sp>
        <p:nvSpPr>
          <p:cNvPr id="42" name="Text 38"/>
          <p:cNvSpPr txBox="1"/>
          <p:nvPr/>
        </p:nvSpPr>
        <p:spPr>
          <a:xfrm>
            <a:off x="8412480" y="484632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150" dirty="0">
                <a:solidFill>
                  <a:srgbClr val="95D5B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แผนสำรอง</a:t>
            </a:r>
            <a:endParaRPr lang="th-TH" sz="1150" dirty="0"/>
          </a:p>
          <a:p>
            <a:pPr indent="0" marL="0">
              <a:buNone/>
            </a:pPr>
            <a:r>
              <a:rPr lang="th-TH" altLang="en-US" sz="1150" dirty="0">
                <a:solidFill>
                  <a:srgbClr val="95D5B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MySQL ล่ม → โหมดสาธิตอัตโนมัติ</a:t>
            </a:r>
            <a:endParaRPr lang="th-TH" sz="1150" dirty="0"/>
          </a:p>
          <a:p>
            <a:pPr indent="0" marL="0">
              <a:buNone/>
            </a:pPr>
            <a:r>
              <a:rPr lang="th-TH" altLang="en-US" sz="1150" dirty="0">
                <a:solidFill>
                  <a:srgbClr val="95D5B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คอมพัง → Fallback Video</a:t>
            </a:r>
            <a:endParaRPr lang="th-TH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300" b="1" dirty="0">
                <a:solidFill>
                  <a:srgbClr val="52B78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หัวข้อที่ 4  ·  Demo</a:t>
            </a:r>
            <a:endParaRPr lang="th-TH" sz="1300" dirty="0"/>
          </a:p>
        </p:txBody>
      </p:sp>
      <p:sp>
        <p:nvSpPr>
          <p:cNvPr id="3" name="Shape 1"/>
          <p:cNvSpPr/>
          <p:nvPr/>
        </p:nvSpPr>
        <p:spPr>
          <a:xfrm>
            <a:off x="5349240" y="38404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EEF8F0"/>
          </a:solidFill>
          <a:ln w="12700">
            <a:solidFill>
              <a:srgbClr val="EEF8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349240" y="38404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950" dirty="0">
                <a:solidFill>
                  <a:srgbClr val="5F6B6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 ปัญหาที่เลือก</a:t>
            </a:r>
            <a:endParaRPr lang="th-TH" sz="950" dirty="0"/>
          </a:p>
        </p:txBody>
      </p:sp>
      <p:sp>
        <p:nvSpPr>
          <p:cNvPr id="5" name="Shape 3"/>
          <p:cNvSpPr/>
          <p:nvPr/>
        </p:nvSpPr>
        <p:spPr>
          <a:xfrm>
            <a:off x="6601968" y="38404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EEF8F0"/>
          </a:solidFill>
          <a:ln w="12700">
            <a:solidFill>
              <a:srgbClr val="EEF8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01968" y="38404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950" dirty="0">
                <a:solidFill>
                  <a:srgbClr val="5F6B6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 เทคโนโลยีที่ศึกษา</a:t>
            </a:r>
            <a:endParaRPr lang="th-TH" sz="950" dirty="0"/>
          </a:p>
        </p:txBody>
      </p:sp>
      <p:sp>
        <p:nvSpPr>
          <p:cNvPr id="7" name="Shape 5"/>
          <p:cNvSpPr/>
          <p:nvPr/>
        </p:nvSpPr>
        <p:spPr>
          <a:xfrm>
            <a:off x="7854696" y="38404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EEF8F0"/>
          </a:solidFill>
          <a:ln w="12700">
            <a:solidFill>
              <a:srgbClr val="EEF8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854696" y="38404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950" dirty="0">
                <a:solidFill>
                  <a:srgbClr val="5F6B6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 Prototype</a:t>
            </a:r>
            <a:endParaRPr lang="th-TH" sz="950" dirty="0"/>
          </a:p>
        </p:txBody>
      </p:sp>
      <p:sp>
        <p:nvSpPr>
          <p:cNvPr id="9" name="Shape 7"/>
          <p:cNvSpPr/>
          <p:nvPr/>
        </p:nvSpPr>
        <p:spPr>
          <a:xfrm>
            <a:off x="9107424" y="38404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07424" y="38404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95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4 Demo</a:t>
            </a:r>
            <a:endParaRPr lang="th-TH" sz="950" dirty="0"/>
          </a:p>
        </p:txBody>
      </p:sp>
      <p:sp>
        <p:nvSpPr>
          <p:cNvPr id="11" name="Shape 9"/>
          <p:cNvSpPr/>
          <p:nvPr/>
        </p:nvSpPr>
        <p:spPr>
          <a:xfrm>
            <a:off x="10360152" y="38404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EEF8F0"/>
          </a:solidFill>
          <a:ln w="12700">
            <a:solidFill>
              <a:srgbClr val="EEF8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360152" y="38404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950" dirty="0">
                <a:solidFill>
                  <a:srgbClr val="5F6B6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5 ถาม–ตอบ</a:t>
            </a:r>
            <a:endParaRPr lang="th-TH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3200" b="1" dirty="0">
                <a:solidFill>
                  <a:srgbClr val="163A2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ผลการทดสอบ</a:t>
            </a:r>
            <a:endParaRPr lang="th-TH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000" dirty="0">
                <a:solidFill>
                  <a:srgbClr val="5F6B6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ผู้นำเสนอ: นายวิทยา</a:t>
            </a:r>
            <a:endParaRPr lang="th-TH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0634472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th-TH" altLang="en-US" sz="1000" dirty="0">
                <a:solidFill>
                  <a:srgbClr val="5F6B6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10 / 14</a:t>
            </a:r>
            <a:endParaRPr lang="th-TH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1783080"/>
            <a:ext cx="347472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91840" y="1965960"/>
            <a:ext cx="566928" cy="566928"/>
          </a:xfrm>
          <a:prstGeom prst="ellipse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39241" y="2113361"/>
            <a:ext cx="272125" cy="272125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914400" y="192024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4400" b="1" dirty="0">
                <a:solidFill>
                  <a:srgbClr val="2D6A4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15/15</a:t>
            </a:r>
            <a:endParaRPr lang="th-TH" sz="4400" dirty="0"/>
          </a:p>
        </p:txBody>
      </p:sp>
      <p:sp>
        <p:nvSpPr>
          <p:cNvPr id="20" name="Text 17"/>
          <p:cNvSpPr txBox="1"/>
          <p:nvPr/>
        </p:nvSpPr>
        <p:spPr>
          <a:xfrm>
            <a:off x="914400" y="28346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600" b="1" dirty="0">
                <a:solidFill>
                  <a:srgbClr val="1B1F2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System Test บน XAMPP จริง</a:t>
            </a:r>
            <a:endParaRPr lang="th-TH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914400" y="32004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250" dirty="0">
                <a:solidFill>
                  <a:srgbClr val="5F6B6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รวม Rollback ทั้งบิล และ SQL Injection</a:t>
            </a:r>
            <a:endParaRPr lang="th-TH" sz="1250" dirty="0"/>
          </a:p>
        </p:txBody>
      </p:sp>
      <p:sp>
        <p:nvSpPr>
          <p:cNvPr id="22" name="Shape 19"/>
          <p:cNvSpPr/>
          <p:nvPr/>
        </p:nvSpPr>
        <p:spPr>
          <a:xfrm>
            <a:off x="4361688" y="1783080"/>
            <a:ext cx="347472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7013448" y="1965960"/>
            <a:ext cx="566928" cy="566928"/>
          </a:xfrm>
          <a:prstGeom prst="ellipse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0849" y="2113361"/>
            <a:ext cx="272125" cy="272125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4636008" y="192024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4400" b="1" dirty="0">
                <a:solidFill>
                  <a:srgbClr val="2D6A4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14/14</a:t>
            </a:r>
            <a:endParaRPr lang="th-TH" sz="4400" dirty="0"/>
          </a:p>
        </p:txBody>
      </p:sp>
      <p:sp>
        <p:nvSpPr>
          <p:cNvPr id="26" name="Text 22"/>
          <p:cNvSpPr txBox="1"/>
          <p:nvPr/>
        </p:nvSpPr>
        <p:spPr>
          <a:xfrm>
            <a:off x="4636008" y="28346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600" b="1" dirty="0">
                <a:solidFill>
                  <a:srgbClr val="1B1F2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Unit Test อัตโนมัติ</a:t>
            </a:r>
            <a:endParaRPr lang="th-TH" sz="1600" dirty="0"/>
          </a:p>
        </p:txBody>
      </p:sp>
      <p:sp>
        <p:nvSpPr>
          <p:cNvPr id="27" name="Text 23"/>
          <p:cNvSpPr txBox="1"/>
          <p:nvPr/>
        </p:nvSpPr>
        <p:spPr>
          <a:xfrm>
            <a:off x="4636008" y="32004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250" dirty="0">
                <a:solidFill>
                  <a:srgbClr val="5F6B6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ตะกร้าสินค้า + แปลงเงินเป็นคำอ่านไทย</a:t>
            </a:r>
            <a:endParaRPr lang="th-TH" sz="1250" dirty="0"/>
          </a:p>
        </p:txBody>
      </p:sp>
      <p:sp>
        <p:nvSpPr>
          <p:cNvPr id="28" name="Shape 24"/>
          <p:cNvSpPr/>
          <p:nvPr/>
        </p:nvSpPr>
        <p:spPr>
          <a:xfrm>
            <a:off x="8083296" y="1783080"/>
            <a:ext cx="347472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10735056" y="1965960"/>
            <a:ext cx="566928" cy="566928"/>
          </a:xfrm>
          <a:prstGeom prst="ellipse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2457" y="2113361"/>
            <a:ext cx="272125" cy="272125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8357616" y="192024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4400" b="1" dirty="0">
                <a:solidFill>
                  <a:srgbClr val="2D6A4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5 ด้าน</a:t>
            </a:r>
            <a:endParaRPr lang="th-TH" sz="4400" dirty="0"/>
          </a:p>
        </p:txBody>
      </p:sp>
      <p:sp>
        <p:nvSpPr>
          <p:cNvPr id="32" name="Text 27"/>
          <p:cNvSpPr txBox="1"/>
          <p:nvPr/>
        </p:nvSpPr>
        <p:spPr>
          <a:xfrm>
            <a:off x="8357616" y="28346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600" b="1" dirty="0">
                <a:solidFill>
                  <a:srgbClr val="1B1F2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ประเมินโดยเพื่อน</a:t>
            </a:r>
            <a:endParaRPr lang="th-TH" sz="1600" dirty="0"/>
          </a:p>
        </p:txBody>
      </p:sp>
      <p:sp>
        <p:nvSpPr>
          <p:cNvPr id="33" name="Text 28"/>
          <p:cNvSpPr txBox="1"/>
          <p:nvPr/>
        </p:nvSpPr>
        <p:spPr>
          <a:xfrm>
            <a:off x="8357616" y="32004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250" dirty="0">
                <a:solidFill>
                  <a:srgbClr val="5F6B6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ใช้ง่าย ถูกต้อง เร็ว และมีประโยชน์</a:t>
            </a:r>
            <a:endParaRPr lang="th-TH" sz="1250" dirty="0"/>
          </a:p>
        </p:txBody>
      </p:sp>
      <p:sp>
        <p:nvSpPr>
          <p:cNvPr id="34" name="Text 29"/>
          <p:cNvSpPr txBox="1"/>
          <p:nvPr/>
        </p:nvSpPr>
        <p:spPr>
          <a:xfrm>
            <a:off x="640080" y="4206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600" b="1" dirty="0">
                <a:solidFill>
                  <a:srgbClr val="163A2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ผลประเมินจากผู้ใช้ทดลอง (ใบงานที่ 6)</a:t>
            </a:r>
            <a:endParaRPr lang="th-TH" sz="1600" dirty="0"/>
          </a:p>
        </p:txBody>
      </p:sp>
      <p:sp>
        <p:nvSpPr>
          <p:cNvPr id="35" name="Shape 30"/>
          <p:cNvSpPr/>
          <p:nvPr/>
        </p:nvSpPr>
        <p:spPr>
          <a:xfrm>
            <a:off x="640080" y="4663440"/>
            <a:ext cx="2057400" cy="1143000"/>
          </a:xfrm>
          <a:prstGeom prst="roundRect">
            <a:avLst>
              <a:gd name="adj" fmla="val 9600"/>
            </a:avLst>
          </a:prstGeom>
          <a:solidFill>
            <a:srgbClr val="EEF8F0"/>
          </a:solidFill>
          <a:ln w="12700">
            <a:solidFill>
              <a:srgbClr val="EEF8F0"/>
            </a:solidFill>
            <a:prstDash val="solid"/>
          </a:ln>
        </p:spPr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846320"/>
            <a:ext cx="292608" cy="292608"/>
          </a:xfrm>
          <a:prstGeom prst="rect">
            <a:avLst/>
          </a:prstGeom>
        </p:spPr>
      </p:pic>
      <p:sp>
        <p:nvSpPr>
          <p:cNvPr id="37" name="Text 31"/>
          <p:cNvSpPr txBox="1"/>
          <p:nvPr/>
        </p:nvSpPr>
        <p:spPr>
          <a:xfrm>
            <a:off x="1207008" y="481888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400" b="1" dirty="0">
                <a:solidFill>
                  <a:srgbClr val="163A2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ใช้งานง่าย</a:t>
            </a:r>
            <a:endParaRPr lang="th-TH" sz="1400" dirty="0"/>
          </a:p>
        </p:txBody>
      </p:sp>
      <p:sp>
        <p:nvSpPr>
          <p:cNvPr id="38" name="Text 32"/>
          <p:cNvSpPr txBox="1"/>
          <p:nvPr/>
        </p:nvSpPr>
        <p:spPr>
          <a:xfrm>
            <a:off x="822960" y="5285232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200" dirty="0">
                <a:solidFill>
                  <a:srgbClr val="1B1F2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ไม่ซับซ้อน เรียนรู้เร็ว</a:t>
            </a:r>
            <a:endParaRPr lang="th-TH" sz="1200" dirty="0"/>
          </a:p>
        </p:txBody>
      </p:sp>
      <p:sp>
        <p:nvSpPr>
          <p:cNvPr id="39" name="Shape 33"/>
          <p:cNvSpPr/>
          <p:nvPr/>
        </p:nvSpPr>
        <p:spPr>
          <a:xfrm>
            <a:off x="2862072" y="4663440"/>
            <a:ext cx="2057400" cy="1143000"/>
          </a:xfrm>
          <a:prstGeom prst="roundRect">
            <a:avLst>
              <a:gd name="adj" fmla="val 9600"/>
            </a:avLst>
          </a:prstGeom>
          <a:solidFill>
            <a:srgbClr val="EEF8F0"/>
          </a:solidFill>
          <a:ln w="12700">
            <a:solidFill>
              <a:srgbClr val="EEF8F0"/>
            </a:solidFill>
            <a:prstDash val="solid"/>
          </a:ln>
        </p:spPr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4952" y="4846320"/>
            <a:ext cx="292608" cy="292608"/>
          </a:xfrm>
          <a:prstGeom prst="rect">
            <a:avLst/>
          </a:prstGeom>
        </p:spPr>
      </p:pic>
      <p:sp>
        <p:nvSpPr>
          <p:cNvPr id="41" name="Text 34"/>
          <p:cNvSpPr txBox="1"/>
          <p:nvPr/>
        </p:nvSpPr>
        <p:spPr>
          <a:xfrm>
            <a:off x="3429000" y="481888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400" b="1" dirty="0">
                <a:solidFill>
                  <a:srgbClr val="163A2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ความถูกต้อง</a:t>
            </a:r>
            <a:endParaRPr lang="th-TH" sz="1400" dirty="0"/>
          </a:p>
        </p:txBody>
      </p:sp>
      <p:sp>
        <p:nvSpPr>
          <p:cNvPr id="42" name="Text 35"/>
          <p:cNvSpPr txBox="1"/>
          <p:nvPr/>
        </p:nvSpPr>
        <p:spPr>
          <a:xfrm>
            <a:off x="3044952" y="5285232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200" dirty="0">
                <a:solidFill>
                  <a:srgbClr val="1B1F2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คำนวณและสแกนถูกต้อง</a:t>
            </a:r>
            <a:endParaRPr lang="th-TH" sz="1200" dirty="0"/>
          </a:p>
        </p:txBody>
      </p:sp>
      <p:sp>
        <p:nvSpPr>
          <p:cNvPr id="43" name="Shape 36"/>
          <p:cNvSpPr/>
          <p:nvPr/>
        </p:nvSpPr>
        <p:spPr>
          <a:xfrm>
            <a:off x="5084064" y="4663440"/>
            <a:ext cx="2057400" cy="1143000"/>
          </a:xfrm>
          <a:prstGeom prst="roundRect">
            <a:avLst>
              <a:gd name="adj" fmla="val 9600"/>
            </a:avLst>
          </a:prstGeom>
          <a:solidFill>
            <a:srgbClr val="EEF8F0"/>
          </a:solidFill>
          <a:ln w="12700">
            <a:solidFill>
              <a:srgbClr val="EEF8F0"/>
            </a:solidFill>
            <a:prstDash val="solid"/>
          </a:ln>
        </p:spPr>
      </p:sp>
      <p:pic>
        <p:nvPicPr>
          <p:cNvPr id="4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66944" y="4846320"/>
            <a:ext cx="292608" cy="292608"/>
          </a:xfrm>
          <a:prstGeom prst="rect">
            <a:avLst/>
          </a:prstGeom>
        </p:spPr>
      </p:pic>
      <p:sp>
        <p:nvSpPr>
          <p:cNvPr id="45" name="Text 37"/>
          <p:cNvSpPr txBox="1"/>
          <p:nvPr/>
        </p:nvSpPr>
        <p:spPr>
          <a:xfrm>
            <a:off x="5650992" y="481888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400" b="1" dirty="0">
                <a:solidFill>
                  <a:srgbClr val="163A2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ความเร็ว</a:t>
            </a:r>
            <a:endParaRPr lang="th-TH" sz="1400" dirty="0"/>
          </a:p>
        </p:txBody>
      </p:sp>
      <p:sp>
        <p:nvSpPr>
          <p:cNvPr id="46" name="Text 38"/>
          <p:cNvSpPr txBox="1"/>
          <p:nvPr/>
        </p:nvSpPr>
        <p:spPr>
          <a:xfrm>
            <a:off x="5266944" y="5285232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200" dirty="0">
                <a:solidFill>
                  <a:srgbClr val="1B1F2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ไม่กระตุก ไม่โหลดช้า</a:t>
            </a:r>
            <a:endParaRPr lang="th-TH" sz="1200" dirty="0"/>
          </a:p>
        </p:txBody>
      </p:sp>
      <p:sp>
        <p:nvSpPr>
          <p:cNvPr id="47" name="Shape 39"/>
          <p:cNvSpPr/>
          <p:nvPr/>
        </p:nvSpPr>
        <p:spPr>
          <a:xfrm>
            <a:off x="7306056" y="4663440"/>
            <a:ext cx="2057400" cy="1143000"/>
          </a:xfrm>
          <a:prstGeom prst="roundRect">
            <a:avLst>
              <a:gd name="adj" fmla="val 9600"/>
            </a:avLst>
          </a:prstGeom>
          <a:solidFill>
            <a:srgbClr val="FDECE7"/>
          </a:solidFill>
          <a:ln w="12700">
            <a:solidFill>
              <a:srgbClr val="FDECE7"/>
            </a:solidFill>
            <a:prstDash val="solid"/>
          </a:ln>
        </p:spPr>
      </p:sp>
      <p:pic>
        <p:nvPicPr>
          <p:cNvPr id="4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88936" y="4846320"/>
            <a:ext cx="292608" cy="292608"/>
          </a:xfrm>
          <a:prstGeom prst="rect">
            <a:avLst/>
          </a:prstGeom>
        </p:spPr>
      </p:pic>
      <p:sp>
        <p:nvSpPr>
          <p:cNvPr id="49" name="Text 40"/>
          <p:cNvSpPr txBox="1"/>
          <p:nvPr/>
        </p:nvSpPr>
        <p:spPr>
          <a:xfrm>
            <a:off x="7872984" y="481888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400" b="1" dirty="0">
                <a:solidFill>
                  <a:srgbClr val="E76F5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ความสวยงาม</a:t>
            </a:r>
            <a:endParaRPr lang="th-TH" sz="1400" dirty="0"/>
          </a:p>
        </p:txBody>
      </p:sp>
      <p:sp>
        <p:nvSpPr>
          <p:cNvPr id="50" name="Text 41"/>
          <p:cNvSpPr txBox="1"/>
          <p:nvPr/>
        </p:nvSpPr>
        <p:spPr>
          <a:xfrm>
            <a:off x="7488936" y="5285232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200" dirty="0">
                <a:solidFill>
                  <a:srgbClr val="1B1F2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ขาดสีชี้นำ → ปรับปรุงแล้ว</a:t>
            </a:r>
            <a:endParaRPr lang="th-TH" sz="1200" dirty="0"/>
          </a:p>
        </p:txBody>
      </p:sp>
      <p:sp>
        <p:nvSpPr>
          <p:cNvPr id="51" name="Shape 42"/>
          <p:cNvSpPr/>
          <p:nvPr/>
        </p:nvSpPr>
        <p:spPr>
          <a:xfrm>
            <a:off x="9528048" y="4663440"/>
            <a:ext cx="2057400" cy="1143000"/>
          </a:xfrm>
          <a:prstGeom prst="roundRect">
            <a:avLst>
              <a:gd name="adj" fmla="val 9600"/>
            </a:avLst>
          </a:prstGeom>
          <a:solidFill>
            <a:srgbClr val="EEF8F0"/>
          </a:solidFill>
          <a:ln w="12700">
            <a:solidFill>
              <a:srgbClr val="EEF8F0"/>
            </a:solidFill>
            <a:prstDash val="solid"/>
          </a:ln>
        </p:spPr>
      </p:sp>
      <p:pic>
        <p:nvPicPr>
          <p:cNvPr id="5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10928" y="4846320"/>
            <a:ext cx="292608" cy="292608"/>
          </a:xfrm>
          <a:prstGeom prst="rect">
            <a:avLst/>
          </a:prstGeom>
        </p:spPr>
      </p:pic>
      <p:sp>
        <p:nvSpPr>
          <p:cNvPr id="53" name="Text 43"/>
          <p:cNvSpPr txBox="1"/>
          <p:nvPr/>
        </p:nvSpPr>
        <p:spPr>
          <a:xfrm>
            <a:off x="10094976" y="481888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400" b="1" dirty="0">
                <a:solidFill>
                  <a:srgbClr val="163A2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ประโยชน์</a:t>
            </a:r>
            <a:endParaRPr lang="th-TH" sz="1400" dirty="0"/>
          </a:p>
        </p:txBody>
      </p:sp>
      <p:sp>
        <p:nvSpPr>
          <p:cNvPr id="54" name="Text 44"/>
          <p:cNvSpPr txBox="1"/>
          <p:nvPr/>
        </p:nvSpPr>
        <p:spPr>
          <a:xfrm>
            <a:off x="9710928" y="5285232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200" dirty="0">
                <a:solidFill>
                  <a:srgbClr val="1B1F2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ลดความผิดพลาดได้จริง</a:t>
            </a:r>
            <a:endParaRPr lang="th-TH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300" b="1" dirty="0">
                <a:solidFill>
                  <a:srgbClr val="52B78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หัวข้อที่ 4  ·  Demo</a:t>
            </a:r>
            <a:endParaRPr lang="th-TH" sz="1300" dirty="0"/>
          </a:p>
        </p:txBody>
      </p:sp>
      <p:sp>
        <p:nvSpPr>
          <p:cNvPr id="3" name="Shape 1"/>
          <p:cNvSpPr/>
          <p:nvPr/>
        </p:nvSpPr>
        <p:spPr>
          <a:xfrm>
            <a:off x="5349240" y="38404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EEF8F0"/>
          </a:solidFill>
          <a:ln w="12700">
            <a:solidFill>
              <a:srgbClr val="EEF8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349240" y="38404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950" dirty="0">
                <a:solidFill>
                  <a:srgbClr val="5F6B6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 ปัญหาที่เลือก</a:t>
            </a:r>
            <a:endParaRPr lang="th-TH" sz="950" dirty="0"/>
          </a:p>
        </p:txBody>
      </p:sp>
      <p:sp>
        <p:nvSpPr>
          <p:cNvPr id="5" name="Shape 3"/>
          <p:cNvSpPr/>
          <p:nvPr/>
        </p:nvSpPr>
        <p:spPr>
          <a:xfrm>
            <a:off x="6601968" y="38404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EEF8F0"/>
          </a:solidFill>
          <a:ln w="12700">
            <a:solidFill>
              <a:srgbClr val="EEF8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01968" y="38404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950" dirty="0">
                <a:solidFill>
                  <a:srgbClr val="5F6B6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 เทคโนโลยีที่ศึกษา</a:t>
            </a:r>
            <a:endParaRPr lang="th-TH" sz="950" dirty="0"/>
          </a:p>
        </p:txBody>
      </p:sp>
      <p:sp>
        <p:nvSpPr>
          <p:cNvPr id="7" name="Shape 5"/>
          <p:cNvSpPr/>
          <p:nvPr/>
        </p:nvSpPr>
        <p:spPr>
          <a:xfrm>
            <a:off x="7854696" y="38404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EEF8F0"/>
          </a:solidFill>
          <a:ln w="12700">
            <a:solidFill>
              <a:srgbClr val="EEF8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854696" y="38404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950" dirty="0">
                <a:solidFill>
                  <a:srgbClr val="5F6B6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 Prototype</a:t>
            </a:r>
            <a:endParaRPr lang="th-TH" sz="950" dirty="0"/>
          </a:p>
        </p:txBody>
      </p:sp>
      <p:sp>
        <p:nvSpPr>
          <p:cNvPr id="9" name="Shape 7"/>
          <p:cNvSpPr/>
          <p:nvPr/>
        </p:nvSpPr>
        <p:spPr>
          <a:xfrm>
            <a:off x="9107424" y="38404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07424" y="38404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95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4 Demo</a:t>
            </a:r>
            <a:endParaRPr lang="th-TH" sz="950" dirty="0"/>
          </a:p>
        </p:txBody>
      </p:sp>
      <p:sp>
        <p:nvSpPr>
          <p:cNvPr id="11" name="Shape 9"/>
          <p:cNvSpPr/>
          <p:nvPr/>
        </p:nvSpPr>
        <p:spPr>
          <a:xfrm>
            <a:off x="10360152" y="38404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EEF8F0"/>
          </a:solidFill>
          <a:ln w="12700">
            <a:solidFill>
              <a:srgbClr val="EEF8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360152" y="38404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950" dirty="0">
                <a:solidFill>
                  <a:srgbClr val="5F6B6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5 ถาม–ตอบ</a:t>
            </a:r>
            <a:endParaRPr lang="th-TH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3200" b="1" dirty="0">
                <a:solidFill>
                  <a:srgbClr val="163A2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Bug ที่พบ: หลักฐานว่าโค้ดจาก AI ต้องทดสอบ</a:t>
            </a:r>
            <a:endParaRPr lang="th-TH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000" dirty="0">
                <a:solidFill>
                  <a:srgbClr val="5F6B6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ผู้นำเสนอ: นายวิทยา</a:t>
            </a:r>
            <a:endParaRPr lang="th-TH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0634472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th-TH" altLang="en-US" sz="1000" dirty="0">
                <a:solidFill>
                  <a:srgbClr val="5F6B6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11 / 14</a:t>
            </a:r>
            <a:endParaRPr lang="th-TH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1783080"/>
            <a:ext cx="5349240" cy="1664208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68680" y="2011680"/>
            <a:ext cx="566928" cy="566928"/>
          </a:xfrm>
          <a:prstGeom prst="ellipse">
            <a:avLst/>
          </a:prstGeom>
          <a:solidFill>
            <a:srgbClr val="FDECE7"/>
          </a:solidFill>
          <a:ln w="12700">
            <a:solidFill>
              <a:srgbClr val="FDECE7"/>
            </a:solidFill>
            <a:prstDash val="solid"/>
          </a:ln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081" y="2159081"/>
            <a:ext cx="272125" cy="272125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1600200" y="200253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600" b="1" dirty="0">
                <a:solidFill>
                  <a:srgbClr val="E76F5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สต็อกในฐานข้อมูลติดลบได้</a:t>
            </a:r>
            <a:endParaRPr lang="th-TH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1600200" y="24231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250" dirty="0">
                <a:solidFill>
                  <a:srgbClr val="5F6B6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สาเหตุ: SQL ตัดสต็อกโดยไม่ตรวจว่าพอหรือไม่</a:t>
            </a:r>
            <a:endParaRPr lang="th-TH" sz="1250" dirty="0"/>
          </a:p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2880360"/>
            <a:ext cx="246888" cy="246888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1938528" y="2825496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300" b="1" dirty="0">
                <a:solidFill>
                  <a:srgbClr val="2D6A4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เพิ่ม stock &gt;= ? + affected_rows + CHECK</a:t>
            </a:r>
            <a:endParaRPr lang="th-TH" sz="1300" dirty="0"/>
          </a:p>
        </p:txBody>
      </p:sp>
      <p:sp>
        <p:nvSpPr>
          <p:cNvPr id="23" name="Shape 19"/>
          <p:cNvSpPr/>
          <p:nvPr/>
        </p:nvSpPr>
        <p:spPr>
          <a:xfrm>
            <a:off x="6199632" y="1783080"/>
            <a:ext cx="5349240" cy="1664208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6428232" y="2011680"/>
            <a:ext cx="566928" cy="566928"/>
          </a:xfrm>
          <a:prstGeom prst="ellipse">
            <a:avLst/>
          </a:prstGeom>
          <a:solidFill>
            <a:srgbClr val="FDECE7"/>
          </a:solidFill>
          <a:ln w="12700">
            <a:solidFill>
              <a:srgbClr val="FDECE7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5633" y="2159081"/>
            <a:ext cx="272125" cy="272125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7159752" y="200253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600" b="1" dirty="0">
                <a:solidFill>
                  <a:srgbClr val="E76F5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1,000,000 บาท → "หนึ่งบาทถ้วน"</a:t>
            </a:r>
            <a:endParaRPr lang="th-TH" sz="1600" dirty="0"/>
          </a:p>
        </p:txBody>
      </p:sp>
      <p:sp>
        <p:nvSpPr>
          <p:cNvPr id="27" name="Text 22"/>
          <p:cNvSpPr txBox="1"/>
          <p:nvPr/>
        </p:nvSpPr>
        <p:spPr>
          <a:xfrm>
            <a:off x="7159752" y="24231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250" dirty="0">
                <a:solidFill>
                  <a:srgbClr val="5F6B6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สาเหตุ: ฟังก์ชันไม่รองรับหลักล้าน</a:t>
            </a:r>
            <a:endParaRPr lang="th-TH" sz="1250" dirty="0"/>
          </a:p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9752" y="2880360"/>
            <a:ext cx="246888" cy="246888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7498080" y="2825496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300" b="1" dirty="0">
                <a:solidFill>
                  <a:srgbClr val="2D6A4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วนหน่วยทุก 6 หลัก แล้วเติม "ล้าน"</a:t>
            </a:r>
            <a:endParaRPr lang="th-TH" sz="1300" dirty="0"/>
          </a:p>
        </p:txBody>
      </p:sp>
      <p:sp>
        <p:nvSpPr>
          <p:cNvPr id="30" name="Shape 24"/>
          <p:cNvSpPr/>
          <p:nvPr/>
        </p:nvSpPr>
        <p:spPr>
          <a:xfrm>
            <a:off x="640080" y="3630168"/>
            <a:ext cx="5349240" cy="1664208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868680" y="3858768"/>
            <a:ext cx="566928" cy="566928"/>
          </a:xfrm>
          <a:prstGeom prst="ellipse">
            <a:avLst/>
          </a:prstGeom>
          <a:solidFill>
            <a:srgbClr val="FDECE7"/>
          </a:solidFill>
          <a:ln w="12700">
            <a:solidFill>
              <a:srgbClr val="FDECE7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6081" y="4006169"/>
            <a:ext cx="272125" cy="272125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1600200" y="384962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600" b="1" dirty="0">
                <a:solidFill>
                  <a:srgbClr val="E76F5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0.01 บาท → "เอ็ดสตางค์"</a:t>
            </a:r>
            <a:endParaRPr lang="th-TH" sz="1600" dirty="0"/>
          </a:p>
        </p:txBody>
      </p:sp>
      <p:sp>
        <p:nvSpPr>
          <p:cNvPr id="34" name="Text 27"/>
          <p:cNvSpPr txBox="1"/>
          <p:nvPr/>
        </p:nvSpPr>
        <p:spPr>
          <a:xfrm>
            <a:off x="1600200" y="42702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250" dirty="0">
                <a:solidFill>
                  <a:srgbClr val="5F6B6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สาเหตุ: เงื่อนไขคำว่า "เอ็ด" ผิด</a:t>
            </a:r>
            <a:endParaRPr lang="th-TH" sz="1250" dirty="0"/>
          </a:p>
        </p:txBody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00200" y="4727448"/>
            <a:ext cx="246888" cy="246888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1938528" y="4672584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300" b="1" dirty="0">
                <a:solidFill>
                  <a:srgbClr val="2D6A4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ใช้ "เอ็ด" เมื่อมีหลักอื่นนำหน้าเท่านั้น</a:t>
            </a:r>
            <a:endParaRPr lang="th-TH" sz="1300" dirty="0"/>
          </a:p>
        </p:txBody>
      </p:sp>
      <p:sp>
        <p:nvSpPr>
          <p:cNvPr id="37" name="Shape 29"/>
          <p:cNvSpPr/>
          <p:nvPr/>
        </p:nvSpPr>
        <p:spPr>
          <a:xfrm>
            <a:off x="6199632" y="3630168"/>
            <a:ext cx="5349240" cy="1664208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38" name="Shape 30"/>
          <p:cNvSpPr/>
          <p:nvPr/>
        </p:nvSpPr>
        <p:spPr>
          <a:xfrm>
            <a:off x="6428232" y="3858768"/>
            <a:ext cx="566928" cy="566928"/>
          </a:xfrm>
          <a:prstGeom prst="ellipse">
            <a:avLst/>
          </a:prstGeom>
          <a:solidFill>
            <a:srgbClr val="FDECE7"/>
          </a:solidFill>
          <a:ln w="12700">
            <a:solidFill>
              <a:srgbClr val="FDECE7"/>
            </a:solidFill>
            <a:prstDash val="solid"/>
          </a:ln>
        </p:spPr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5633" y="4006169"/>
            <a:ext cx="272125" cy="272125"/>
          </a:xfrm>
          <a:prstGeom prst="rect">
            <a:avLst/>
          </a:prstGeom>
        </p:spPr>
      </p:pic>
      <p:sp>
        <p:nvSpPr>
          <p:cNvPr id="40" name="Text 31"/>
          <p:cNvSpPr txBox="1"/>
          <p:nvPr/>
        </p:nvSpPr>
        <p:spPr>
          <a:xfrm>
            <a:off x="7159752" y="384962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600" b="1" dirty="0">
                <a:solidFill>
                  <a:srgbClr val="E76F5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หน้าจอไม่มีสี ตะกร้าอยู่ผิดที่</a:t>
            </a:r>
            <a:endParaRPr lang="th-TH" sz="1600" dirty="0"/>
          </a:p>
        </p:txBody>
      </p:sp>
      <p:sp>
        <p:nvSpPr>
          <p:cNvPr id="41" name="Text 32"/>
          <p:cNvSpPr txBox="1"/>
          <p:nvPr/>
        </p:nvSpPr>
        <p:spPr>
          <a:xfrm>
            <a:off x="7159752" y="42702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250" dirty="0">
                <a:solidFill>
                  <a:srgbClr val="5F6B6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สาเหตุ: CSS เรียกตัวแปรที่ไม่เคยประกาศ</a:t>
            </a:r>
            <a:endParaRPr lang="th-TH" sz="1250" dirty="0"/>
          </a:p>
        </p:txBody>
      </p:sp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59752" y="4727448"/>
            <a:ext cx="246888" cy="246888"/>
          </a:xfrm>
          <a:prstGeom prst="rect">
            <a:avLst/>
          </a:prstGeom>
        </p:spPr>
      </p:pic>
      <p:sp>
        <p:nvSpPr>
          <p:cNvPr id="43" name="Text 33"/>
          <p:cNvSpPr txBox="1"/>
          <p:nvPr/>
        </p:nvSpPr>
        <p:spPr>
          <a:xfrm>
            <a:off x="7498080" y="4672584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300" b="1" dirty="0">
                <a:solidFill>
                  <a:srgbClr val="2D6A4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เพิ่ม :root และ Layout 2 คอลัมน์</a:t>
            </a:r>
            <a:endParaRPr lang="th-TH" sz="1300" dirty="0"/>
          </a:p>
        </p:txBody>
      </p:sp>
      <p:sp>
        <p:nvSpPr>
          <p:cNvPr id="44" name="Shape 34"/>
          <p:cNvSpPr/>
          <p:nvPr/>
        </p:nvSpPr>
        <p:spPr>
          <a:xfrm>
            <a:off x="640080" y="5532120"/>
            <a:ext cx="10908792" cy="731520"/>
          </a:xfrm>
          <a:prstGeom prst="roundRect">
            <a:avLst>
              <a:gd name="adj" fmla="val 15000"/>
            </a:avLst>
          </a:prstGeom>
          <a:solidFill>
            <a:srgbClr val="163A2E"/>
          </a:solidFill>
          <a:ln w="12700">
            <a:solidFill>
              <a:srgbClr val="163A2E"/>
            </a:solidFill>
            <a:prstDash val="solid"/>
          </a:ln>
        </p:spPr>
      </p:sp>
      <p:sp>
        <p:nvSpPr>
          <p:cNvPr id="45" name="Text 35"/>
          <p:cNvSpPr txBox="1"/>
          <p:nvPr/>
        </p:nvSpPr>
        <p:spPr>
          <a:xfrm>
            <a:off x="914400" y="553212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altLang="en-US" sz="1500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โค้ดทำงานได้ในกรณีปกติ แต่พลาดใน </a:t>
            </a:r>
            <a:pPr indent="0" marL="0">
              <a:buNone/>
            </a:pPr>
            <a:r>
              <a:rPr lang="th-TH" altLang="en-US" sz="15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กรณีขอบ (Edge Case)</a:t>
            </a:r>
            <a:pPr indent="0" marL="0">
              <a:buNone/>
            </a:pPr>
            <a:r>
              <a:rPr lang="th-TH" altLang="en-US" sz="1500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 → เราเขียน tests/test_logic.mjs ไว้รันซ้ำได้ทุกครั้ง</a:t>
            </a:r>
            <a:endParaRPr lang="th-TH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300" b="1" dirty="0">
                <a:solidFill>
                  <a:srgbClr val="52B78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หัวข้อที่ 4  ·  Demo</a:t>
            </a:r>
            <a:endParaRPr lang="th-TH" sz="1300" dirty="0"/>
          </a:p>
        </p:txBody>
      </p:sp>
      <p:sp>
        <p:nvSpPr>
          <p:cNvPr id="3" name="Shape 1"/>
          <p:cNvSpPr/>
          <p:nvPr/>
        </p:nvSpPr>
        <p:spPr>
          <a:xfrm>
            <a:off x="5349240" y="38404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EEF8F0"/>
          </a:solidFill>
          <a:ln w="12700">
            <a:solidFill>
              <a:srgbClr val="EEF8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349240" y="38404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950" dirty="0">
                <a:solidFill>
                  <a:srgbClr val="5F6B6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 ปัญหาที่เลือก</a:t>
            </a:r>
            <a:endParaRPr lang="th-TH" sz="950" dirty="0"/>
          </a:p>
        </p:txBody>
      </p:sp>
      <p:sp>
        <p:nvSpPr>
          <p:cNvPr id="5" name="Shape 3"/>
          <p:cNvSpPr/>
          <p:nvPr/>
        </p:nvSpPr>
        <p:spPr>
          <a:xfrm>
            <a:off x="6601968" y="38404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EEF8F0"/>
          </a:solidFill>
          <a:ln w="12700">
            <a:solidFill>
              <a:srgbClr val="EEF8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01968" y="38404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950" dirty="0">
                <a:solidFill>
                  <a:srgbClr val="5F6B6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 เทคโนโลยีที่ศึกษา</a:t>
            </a:r>
            <a:endParaRPr lang="th-TH" sz="950" dirty="0"/>
          </a:p>
        </p:txBody>
      </p:sp>
      <p:sp>
        <p:nvSpPr>
          <p:cNvPr id="7" name="Shape 5"/>
          <p:cNvSpPr/>
          <p:nvPr/>
        </p:nvSpPr>
        <p:spPr>
          <a:xfrm>
            <a:off x="7854696" y="38404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EEF8F0"/>
          </a:solidFill>
          <a:ln w="12700">
            <a:solidFill>
              <a:srgbClr val="EEF8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854696" y="38404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950" dirty="0">
                <a:solidFill>
                  <a:srgbClr val="5F6B6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 Prototype</a:t>
            </a:r>
            <a:endParaRPr lang="th-TH" sz="950" dirty="0"/>
          </a:p>
        </p:txBody>
      </p:sp>
      <p:sp>
        <p:nvSpPr>
          <p:cNvPr id="9" name="Shape 7"/>
          <p:cNvSpPr/>
          <p:nvPr/>
        </p:nvSpPr>
        <p:spPr>
          <a:xfrm>
            <a:off x="9107424" y="38404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07424" y="38404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95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4 Demo</a:t>
            </a:r>
            <a:endParaRPr lang="th-TH" sz="950" dirty="0"/>
          </a:p>
        </p:txBody>
      </p:sp>
      <p:sp>
        <p:nvSpPr>
          <p:cNvPr id="11" name="Shape 9"/>
          <p:cNvSpPr/>
          <p:nvPr/>
        </p:nvSpPr>
        <p:spPr>
          <a:xfrm>
            <a:off x="10360152" y="38404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EEF8F0"/>
          </a:solidFill>
          <a:ln w="12700">
            <a:solidFill>
              <a:srgbClr val="EEF8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360152" y="38404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950" dirty="0">
                <a:solidFill>
                  <a:srgbClr val="5F6B6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5 ถาม–ตอบ</a:t>
            </a:r>
            <a:endParaRPr lang="th-TH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3200" b="1" dirty="0">
                <a:solidFill>
                  <a:srgbClr val="163A2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ข้อจำกัดและแนวทางพัฒนาต่อ</a:t>
            </a:r>
            <a:endParaRPr lang="th-TH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000" dirty="0">
                <a:solidFill>
                  <a:srgbClr val="5F6B6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ผู้นำเสนอ: นายภคพล</a:t>
            </a:r>
            <a:endParaRPr lang="th-TH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0634472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th-TH" altLang="en-US" sz="1000" dirty="0">
                <a:solidFill>
                  <a:srgbClr val="5F6B6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12 / 14</a:t>
            </a:r>
            <a:endParaRPr lang="th-TH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1783080"/>
            <a:ext cx="5349240" cy="4434840"/>
          </a:xfrm>
          <a:prstGeom prst="roundRect">
            <a:avLst>
              <a:gd name="adj" fmla="val 2474"/>
            </a:avLst>
          </a:prstGeom>
          <a:solidFill>
            <a:srgbClr val="FDECE7"/>
          </a:solidFill>
          <a:ln w="12700">
            <a:solidFill>
              <a:srgbClr val="FDECE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2011680"/>
            <a:ext cx="603504" cy="603504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311" y="2168591"/>
            <a:ext cx="289682" cy="289682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1691640" y="21031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2000" b="1" dirty="0">
                <a:solidFill>
                  <a:srgbClr val="E76F5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ข้อจำกัดตอนนี้</a:t>
            </a:r>
            <a:endParaRPr lang="th-TH" sz="200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2962656"/>
            <a:ext cx="274320" cy="274320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1508760" y="29260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450" dirty="0">
                <a:solidFill>
                  <a:srgbClr val="1B1F2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ยังจำลองการสแกนด้วยการคลิก</a:t>
            </a:r>
            <a:endParaRPr lang="th-TH" sz="145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3602736"/>
            <a:ext cx="274320" cy="27432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1508760" y="35661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450" dirty="0">
                <a:solidFill>
                  <a:srgbClr val="1B1F2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ข้อมูลลูกค้า/ร้านในใบเสร็จเป็นค่าคงที่</a:t>
            </a:r>
            <a:endParaRPr lang="th-TH" sz="145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8" y="4242816"/>
            <a:ext cx="274320" cy="27432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508760" y="42062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450" dirty="0">
                <a:solidFill>
                  <a:srgbClr val="1B1F2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ยังไม่บันทึกประวัติการขาย เลขที่ใบเสร็จสุ่ม</a:t>
            </a:r>
            <a:endParaRPr lang="th-TH" sz="1450" dirty="0"/>
          </a:p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128" y="4882896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508760" y="48463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450" dirty="0">
                <a:solidFill>
                  <a:srgbClr val="1B1F2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ตัดสต็อกตอนปิดใบเสร็จ ไม่ใช่ตอนชำระ</a:t>
            </a:r>
            <a:endParaRPr lang="th-TH" sz="1450" dirty="0"/>
          </a:p>
        </p:txBody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4128" y="5522976"/>
            <a:ext cx="274320" cy="274320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1508760" y="54864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450" dirty="0">
                <a:solidFill>
                  <a:srgbClr val="1B1F2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ยังไม่มี Login และใช้บัญชี root</a:t>
            </a:r>
            <a:endParaRPr lang="th-TH" sz="1450" dirty="0"/>
          </a:p>
        </p:txBody>
      </p:sp>
      <p:sp>
        <p:nvSpPr>
          <p:cNvPr id="30" name="Shape 22"/>
          <p:cNvSpPr/>
          <p:nvPr/>
        </p:nvSpPr>
        <p:spPr>
          <a:xfrm>
            <a:off x="6199632" y="1783080"/>
            <a:ext cx="5349240" cy="4434840"/>
          </a:xfrm>
          <a:prstGeom prst="roundRect">
            <a:avLst>
              <a:gd name="adj" fmla="val 2474"/>
            </a:avLst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6473952" y="2011680"/>
            <a:ext cx="603504" cy="603504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30863" y="2168591"/>
            <a:ext cx="289682" cy="289682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7251192" y="21031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2000" b="1" dirty="0">
                <a:solidFill>
                  <a:srgbClr val="2D6A4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พัฒนาต่อ</a:t>
            </a:r>
            <a:endParaRPr lang="th-TH" sz="2000" dirty="0"/>
          </a:p>
        </p:txBody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3680" y="2962656"/>
            <a:ext cx="274320" cy="274320"/>
          </a:xfrm>
          <a:prstGeom prst="rect">
            <a:avLst/>
          </a:prstGeom>
        </p:spPr>
      </p:pic>
      <p:sp>
        <p:nvSpPr>
          <p:cNvPr id="35" name="Text 25"/>
          <p:cNvSpPr txBox="1"/>
          <p:nvPr/>
        </p:nvSpPr>
        <p:spPr>
          <a:xfrm>
            <a:off x="7068312" y="29260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450" dirty="0">
                <a:solidFill>
                  <a:srgbClr val="1B1F2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รองรับเครื่องสแกนบาร์โค้ด USB</a:t>
            </a:r>
            <a:endParaRPr lang="th-TH" sz="1450" dirty="0"/>
          </a:p>
        </p:txBody>
      </p:sp>
      <p:pic>
        <p:nvPicPr>
          <p:cNvPr id="3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83680" y="3602736"/>
            <a:ext cx="274320" cy="274320"/>
          </a:xfrm>
          <a:prstGeom prst="rect">
            <a:avLst/>
          </a:prstGeom>
        </p:spPr>
      </p:pic>
      <p:sp>
        <p:nvSpPr>
          <p:cNvPr id="37" name="Text 26"/>
          <p:cNvSpPr txBox="1"/>
          <p:nvPr/>
        </p:nvSpPr>
        <p:spPr>
          <a:xfrm>
            <a:off x="7068312" y="35661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450" dirty="0">
                <a:solidFill>
                  <a:srgbClr val="1B1F2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ตาราง sales → รายงานยอดขายรายวัน</a:t>
            </a:r>
            <a:endParaRPr lang="th-TH" sz="1450" dirty="0"/>
          </a:p>
        </p:txBody>
      </p:sp>
      <p:pic>
        <p:nvPicPr>
          <p:cNvPr id="3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83680" y="4242816"/>
            <a:ext cx="274320" cy="274320"/>
          </a:xfrm>
          <a:prstGeom prst="rect">
            <a:avLst/>
          </a:prstGeom>
        </p:spPr>
      </p:pic>
      <p:sp>
        <p:nvSpPr>
          <p:cNvPr id="39" name="Text 27"/>
          <p:cNvSpPr txBox="1"/>
          <p:nvPr/>
        </p:nvSpPr>
        <p:spPr>
          <a:xfrm>
            <a:off x="7068312" y="42062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450" dirty="0">
                <a:solidFill>
                  <a:srgbClr val="1B1F2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รับเงิน/ทอนเงิน พักบิล คืนสินค้า</a:t>
            </a:r>
            <a:endParaRPr lang="th-TH" sz="1450" dirty="0"/>
          </a:p>
        </p:txBody>
      </p:sp>
      <p:pic>
        <p:nvPicPr>
          <p:cNvPr id="40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83680" y="4882896"/>
            <a:ext cx="274320" cy="274320"/>
          </a:xfrm>
          <a:prstGeom prst="rect">
            <a:avLst/>
          </a:prstGeom>
        </p:spPr>
      </p:pic>
      <p:sp>
        <p:nvSpPr>
          <p:cNvPr id="41" name="Text 28"/>
          <p:cNvSpPr txBox="1"/>
          <p:nvPr/>
        </p:nvSpPr>
        <p:spPr>
          <a:xfrm>
            <a:off x="7068312" y="48463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450" dirty="0">
                <a:solidFill>
                  <a:srgbClr val="1B1F2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ย้ายการตัดสต็อกไปตอนกดชำระเงิน</a:t>
            </a:r>
            <a:endParaRPr lang="th-TH" sz="1450" dirty="0"/>
          </a:p>
        </p:txBody>
      </p:sp>
      <p:pic>
        <p:nvPicPr>
          <p:cNvPr id="42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83680" y="5522976"/>
            <a:ext cx="274320" cy="274320"/>
          </a:xfrm>
          <a:prstGeom prst="rect">
            <a:avLst/>
          </a:prstGeom>
        </p:spPr>
      </p:pic>
      <p:sp>
        <p:nvSpPr>
          <p:cNvPr id="43" name="Text 29"/>
          <p:cNvSpPr txBox="1"/>
          <p:nvPr/>
        </p:nvSpPr>
        <p:spPr>
          <a:xfrm>
            <a:off x="7068312" y="54864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450" dirty="0">
                <a:solidFill>
                  <a:srgbClr val="1B1F2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Login + ชำระด้วย QR พร้อมเพย์</a:t>
            </a:r>
            <a:endParaRPr lang="th-TH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300" b="1" dirty="0">
                <a:solidFill>
                  <a:srgbClr val="52B78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หัวข้อที่ 5  ·  ถาม–ตอบ</a:t>
            </a:r>
            <a:endParaRPr lang="th-TH" sz="1300" dirty="0"/>
          </a:p>
        </p:txBody>
      </p:sp>
      <p:sp>
        <p:nvSpPr>
          <p:cNvPr id="3" name="Shape 1"/>
          <p:cNvSpPr/>
          <p:nvPr/>
        </p:nvSpPr>
        <p:spPr>
          <a:xfrm>
            <a:off x="5349240" y="38404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EEF8F0"/>
          </a:solidFill>
          <a:ln w="12700">
            <a:solidFill>
              <a:srgbClr val="EEF8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349240" y="38404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950" dirty="0">
                <a:solidFill>
                  <a:srgbClr val="5F6B6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 ปัญหาที่เลือก</a:t>
            </a:r>
            <a:endParaRPr lang="th-TH" sz="950" dirty="0"/>
          </a:p>
        </p:txBody>
      </p:sp>
      <p:sp>
        <p:nvSpPr>
          <p:cNvPr id="5" name="Shape 3"/>
          <p:cNvSpPr/>
          <p:nvPr/>
        </p:nvSpPr>
        <p:spPr>
          <a:xfrm>
            <a:off x="6601968" y="38404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EEF8F0"/>
          </a:solidFill>
          <a:ln w="12700">
            <a:solidFill>
              <a:srgbClr val="EEF8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01968" y="38404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950" dirty="0">
                <a:solidFill>
                  <a:srgbClr val="5F6B6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 เทคโนโลยีที่ศึกษา</a:t>
            </a:r>
            <a:endParaRPr lang="th-TH" sz="950" dirty="0"/>
          </a:p>
        </p:txBody>
      </p:sp>
      <p:sp>
        <p:nvSpPr>
          <p:cNvPr id="7" name="Shape 5"/>
          <p:cNvSpPr/>
          <p:nvPr/>
        </p:nvSpPr>
        <p:spPr>
          <a:xfrm>
            <a:off x="7854696" y="38404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EEF8F0"/>
          </a:solidFill>
          <a:ln w="12700">
            <a:solidFill>
              <a:srgbClr val="EEF8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854696" y="38404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950" dirty="0">
                <a:solidFill>
                  <a:srgbClr val="5F6B6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 Prototype</a:t>
            </a:r>
            <a:endParaRPr lang="th-TH" sz="950" dirty="0"/>
          </a:p>
        </p:txBody>
      </p:sp>
      <p:sp>
        <p:nvSpPr>
          <p:cNvPr id="9" name="Shape 7"/>
          <p:cNvSpPr/>
          <p:nvPr/>
        </p:nvSpPr>
        <p:spPr>
          <a:xfrm>
            <a:off x="9107424" y="38404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EEF8F0"/>
          </a:solidFill>
          <a:ln w="12700">
            <a:solidFill>
              <a:srgbClr val="EEF8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07424" y="38404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950" dirty="0">
                <a:solidFill>
                  <a:srgbClr val="5F6B6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4 Demo</a:t>
            </a:r>
            <a:endParaRPr lang="th-TH" sz="950" dirty="0"/>
          </a:p>
        </p:txBody>
      </p:sp>
      <p:sp>
        <p:nvSpPr>
          <p:cNvPr id="11" name="Shape 9"/>
          <p:cNvSpPr/>
          <p:nvPr/>
        </p:nvSpPr>
        <p:spPr>
          <a:xfrm>
            <a:off x="10360152" y="38404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360152" y="38404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95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5 ถาม–ตอบ</a:t>
            </a:r>
            <a:endParaRPr lang="th-TH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3200" b="1" dirty="0">
                <a:solidFill>
                  <a:srgbClr val="163A2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สรุปก่อนถาม–ตอบ</a:t>
            </a:r>
            <a:endParaRPr lang="th-TH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000" dirty="0">
                <a:solidFill>
                  <a:srgbClr val="5F6B6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ผู้นำเสนอ: นายภคพล</a:t>
            </a:r>
            <a:endParaRPr lang="th-TH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0634472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th-TH" altLang="en-US" sz="1000" dirty="0">
                <a:solidFill>
                  <a:srgbClr val="5F6B6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13 / 14</a:t>
            </a:r>
            <a:endParaRPr lang="th-TH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1783080"/>
            <a:ext cx="347472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14400" y="2011680"/>
            <a:ext cx="731520" cy="731520"/>
          </a:xfrm>
          <a:prstGeom prst="ellipse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595" y="2201875"/>
            <a:ext cx="351130" cy="351130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914400" y="28803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900" b="1" dirty="0">
                <a:solidFill>
                  <a:srgbClr val="2D6A4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แก้ปัญหาธุรกิจได้</a:t>
            </a:r>
            <a:endParaRPr lang="th-TH" sz="1900" dirty="0"/>
          </a:p>
        </p:txBody>
      </p:sp>
      <p:sp>
        <p:nvSpPr>
          <p:cNvPr id="20" name="Text 17"/>
          <p:cNvSpPr txBox="1"/>
          <p:nvPr/>
        </p:nvSpPr>
        <p:spPr>
          <a:xfrm>
            <a:off x="914400" y="32918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300" dirty="0">
                <a:solidFill>
                  <a:srgbClr val="1B1F2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คิดเงินถูกต้อง รวดเร็ว ออกใบเสร็จ และตัดสต็อกอัตโนมัติ</a:t>
            </a:r>
            <a:endParaRPr lang="th-TH" sz="1300" dirty="0"/>
          </a:p>
        </p:txBody>
      </p:sp>
      <p:sp>
        <p:nvSpPr>
          <p:cNvPr id="21" name="Shape 18"/>
          <p:cNvSpPr/>
          <p:nvPr/>
        </p:nvSpPr>
        <p:spPr>
          <a:xfrm>
            <a:off x="4361688" y="1783080"/>
            <a:ext cx="347472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636008" y="2011680"/>
            <a:ext cx="731520" cy="731520"/>
          </a:xfrm>
          <a:prstGeom prst="ellipse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203" y="2201875"/>
            <a:ext cx="351130" cy="351130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4636008" y="28803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900" b="1" dirty="0">
                <a:solidFill>
                  <a:srgbClr val="2D6A4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AI ช่วยได้จริง</a:t>
            </a:r>
            <a:endParaRPr lang="th-TH" sz="1900" dirty="0"/>
          </a:p>
        </p:txBody>
      </p:sp>
      <p:sp>
        <p:nvSpPr>
          <p:cNvPr id="25" name="Text 21"/>
          <p:cNvSpPr txBox="1"/>
          <p:nvPr/>
        </p:nvSpPr>
        <p:spPr>
          <a:xfrm>
            <a:off x="4636008" y="32918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300" dirty="0">
                <a:solidFill>
                  <a:srgbClr val="1B1F2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เริ่มงานเร็ว แบ่งโครงสร้างโค้ด อธิบายแนวคิดใหม่ให้เข้าใจ</a:t>
            </a:r>
            <a:endParaRPr lang="th-TH" sz="1300" dirty="0"/>
          </a:p>
        </p:txBody>
      </p:sp>
      <p:sp>
        <p:nvSpPr>
          <p:cNvPr id="26" name="Shape 22"/>
          <p:cNvSpPr/>
          <p:nvPr/>
        </p:nvSpPr>
        <p:spPr>
          <a:xfrm>
            <a:off x="8083296" y="1783080"/>
            <a:ext cx="347472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8357616" y="2011680"/>
            <a:ext cx="731520" cy="731520"/>
          </a:xfrm>
          <a:prstGeom prst="ellipse">
            <a:avLst/>
          </a:prstGeom>
          <a:solidFill>
            <a:srgbClr val="FDECE7"/>
          </a:solidFill>
          <a:ln w="12700">
            <a:solidFill>
              <a:srgbClr val="FDECE7"/>
            </a:solidFill>
            <a:prstDash val="solid"/>
          </a:ln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7811" y="2201875"/>
            <a:ext cx="351130" cy="351130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8357616" y="28803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900" b="1" dirty="0">
                <a:solidFill>
                  <a:srgbClr val="E76F5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แต่ต้องตรวจสอบ</a:t>
            </a:r>
            <a:endParaRPr lang="th-TH" sz="1900" dirty="0"/>
          </a:p>
        </p:txBody>
      </p:sp>
      <p:sp>
        <p:nvSpPr>
          <p:cNvPr id="30" name="Text 25"/>
          <p:cNvSpPr txBox="1"/>
          <p:nvPr/>
        </p:nvSpPr>
        <p:spPr>
          <a:xfrm>
            <a:off x="8357616" y="32918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300" dirty="0">
                <a:solidFill>
                  <a:srgbClr val="1B1F2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พบ Bug กรณีขอบ 4 จุด แก้ได้เพราะเข้าใจโค้ดและทดสอบ</a:t>
            </a:r>
            <a:endParaRPr lang="th-TH" sz="1300" dirty="0"/>
          </a:p>
        </p:txBody>
      </p:sp>
      <p:sp>
        <p:nvSpPr>
          <p:cNvPr id="31" name="Shape 26"/>
          <p:cNvSpPr/>
          <p:nvPr/>
        </p:nvSpPr>
        <p:spPr>
          <a:xfrm>
            <a:off x="640080" y="4526280"/>
            <a:ext cx="10908792" cy="1691640"/>
          </a:xfrm>
          <a:prstGeom prst="roundRect">
            <a:avLst>
              <a:gd name="adj" fmla="val 6486"/>
            </a:avLst>
          </a:prstGeom>
          <a:solidFill>
            <a:srgbClr val="163A2E"/>
          </a:solidFill>
          <a:ln w="12700">
            <a:solidFill>
              <a:srgbClr val="163A2E"/>
            </a:solidFill>
            <a:prstDash val="solid"/>
          </a:ln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4800600"/>
            <a:ext cx="457200" cy="457200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1645920" y="4526280"/>
            <a:ext cx="96926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altLang="en-US" sz="22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AI เป็นผู้ช่วยที่ดี แต่ผู้พัฒนาต้องเข้าใจโค้ด ทดสอบ และรับผิดชอบผลลัพธ์เอง</a:t>
            </a:r>
            <a:endParaRPr lang="th-TH" sz="2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63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300" b="1" dirty="0">
                <a:solidFill>
                  <a:srgbClr val="52B78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หัวข้อที่ 5  ·  ถาม–ตอบ  ·  13–15 นาที</a:t>
            </a:r>
            <a:endParaRPr lang="th-TH" sz="1300" dirty="0"/>
          </a:p>
        </p:txBody>
      </p:sp>
      <p:sp>
        <p:nvSpPr>
          <p:cNvPr id="3" name="Shape 1"/>
          <p:cNvSpPr/>
          <p:nvPr/>
        </p:nvSpPr>
        <p:spPr>
          <a:xfrm>
            <a:off x="5349240" y="38404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24503F"/>
          </a:solidFill>
          <a:ln w="12700">
            <a:solidFill>
              <a:srgbClr val="24503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349240" y="38404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950" dirty="0">
                <a:solidFill>
                  <a:srgbClr val="95D5B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 ปัญหาที่เลือก</a:t>
            </a:r>
            <a:endParaRPr lang="th-TH" sz="950" dirty="0"/>
          </a:p>
        </p:txBody>
      </p:sp>
      <p:sp>
        <p:nvSpPr>
          <p:cNvPr id="5" name="Shape 3"/>
          <p:cNvSpPr/>
          <p:nvPr/>
        </p:nvSpPr>
        <p:spPr>
          <a:xfrm>
            <a:off x="6601968" y="38404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24503F"/>
          </a:solidFill>
          <a:ln w="12700">
            <a:solidFill>
              <a:srgbClr val="24503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01968" y="38404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950" dirty="0">
                <a:solidFill>
                  <a:srgbClr val="95D5B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 เทคโนโลยีที่ศึกษา</a:t>
            </a:r>
            <a:endParaRPr lang="th-TH" sz="950" dirty="0"/>
          </a:p>
        </p:txBody>
      </p:sp>
      <p:sp>
        <p:nvSpPr>
          <p:cNvPr id="7" name="Shape 5"/>
          <p:cNvSpPr/>
          <p:nvPr/>
        </p:nvSpPr>
        <p:spPr>
          <a:xfrm>
            <a:off x="7854696" y="38404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24503F"/>
          </a:solidFill>
          <a:ln w="12700">
            <a:solidFill>
              <a:srgbClr val="2450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854696" y="38404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950" dirty="0">
                <a:solidFill>
                  <a:srgbClr val="95D5B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 Prototype</a:t>
            </a:r>
            <a:endParaRPr lang="th-TH" sz="950" dirty="0"/>
          </a:p>
        </p:txBody>
      </p:sp>
      <p:sp>
        <p:nvSpPr>
          <p:cNvPr id="9" name="Shape 7"/>
          <p:cNvSpPr/>
          <p:nvPr/>
        </p:nvSpPr>
        <p:spPr>
          <a:xfrm>
            <a:off x="9107424" y="38404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24503F"/>
          </a:solidFill>
          <a:ln w="12700">
            <a:solidFill>
              <a:srgbClr val="24503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07424" y="38404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950" dirty="0">
                <a:solidFill>
                  <a:srgbClr val="95D5B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4 Demo</a:t>
            </a:r>
            <a:endParaRPr lang="th-TH" sz="950" dirty="0"/>
          </a:p>
        </p:txBody>
      </p:sp>
      <p:sp>
        <p:nvSpPr>
          <p:cNvPr id="11" name="Shape 9"/>
          <p:cNvSpPr/>
          <p:nvPr/>
        </p:nvSpPr>
        <p:spPr>
          <a:xfrm>
            <a:off x="10360152" y="38404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360152" y="38404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950" b="1" dirty="0">
                <a:solidFill>
                  <a:srgbClr val="163A2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5 ถาม–ตอบ</a:t>
            </a:r>
            <a:endParaRPr lang="th-TH" sz="950" dirty="0"/>
          </a:p>
        </p:txBody>
      </p:sp>
      <p:sp>
        <p:nvSpPr>
          <p:cNvPr id="13" name="Shape 11"/>
          <p:cNvSpPr/>
          <p:nvPr/>
        </p:nvSpPr>
        <p:spPr>
          <a:xfrm>
            <a:off x="5550408" y="1097280"/>
            <a:ext cx="1097280" cy="109728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5701" y="1382573"/>
            <a:ext cx="526694" cy="526694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1371600" y="2377440"/>
            <a:ext cx="94457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th-TH" altLang="en-US" sz="54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ถาม – ตอบ</a:t>
            </a:r>
            <a:endParaRPr lang="th-TH" sz="5400" dirty="0"/>
          </a:p>
        </p:txBody>
      </p:sp>
      <p:sp>
        <p:nvSpPr>
          <p:cNvPr id="16" name="Text 13"/>
          <p:cNvSpPr txBox="1"/>
          <p:nvPr/>
        </p:nvSpPr>
        <p:spPr>
          <a:xfrm>
            <a:off x="1371600" y="3474720"/>
            <a:ext cx="9445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th-TH" altLang="en-US" sz="2400" dirty="0">
                <a:solidFill>
                  <a:srgbClr val="95D5B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ขอบคุณครับ</a:t>
            </a:r>
            <a:endParaRPr lang="th-TH" sz="2400" dirty="0"/>
          </a:p>
        </p:txBody>
      </p:sp>
      <p:sp>
        <p:nvSpPr>
          <p:cNvPr id="17" name="Shape 14"/>
          <p:cNvSpPr/>
          <p:nvPr/>
        </p:nvSpPr>
        <p:spPr>
          <a:xfrm>
            <a:off x="3108960" y="4434840"/>
            <a:ext cx="5971032" cy="640080"/>
          </a:xfrm>
          <a:prstGeom prst="roundRect">
            <a:avLst>
              <a:gd name="adj" fmla="val 50000"/>
            </a:avLst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4562856"/>
            <a:ext cx="384048" cy="384048"/>
          </a:xfrm>
          <a:prstGeom prst="rect">
            <a:avLst/>
          </a:prstGeom>
        </p:spPr>
      </p:pic>
      <p:sp>
        <p:nvSpPr>
          <p:cNvPr id="19" name="Text 15">
            <a:hlinkClick r:id="rId3" tooltip=""/>
          </p:cNvPr>
          <p:cNvSpPr txBox="1"/>
          <p:nvPr/>
        </p:nvSpPr>
        <p:spPr>
          <a:xfrm>
            <a:off x="3840480" y="443484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altLang="en-US" sz="1700" b="1" u="sng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github.com/wittayaaasei-eng/thawirot-pos</a:t>
            </a:r>
            <a:endParaRPr lang="th-TH" sz="1700" dirty="0"/>
          </a:p>
        </p:txBody>
      </p:sp>
      <p:sp>
        <p:nvSpPr>
          <p:cNvPr id="20" name="Text 16"/>
          <p:cNvSpPr txBox="1"/>
          <p:nvPr/>
        </p:nvSpPr>
        <p:spPr>
          <a:xfrm>
            <a:off x="1371600" y="5669280"/>
            <a:ext cx="9445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th-TH" altLang="en-US" sz="1300" dirty="0">
                <a:solidFill>
                  <a:srgbClr val="95D5B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นายวิทยา 66541207018-7   ·   นายภคพล วราสินธ์ 66541207074-0</a:t>
            </a:r>
            <a:endParaRPr lang="th-TH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ระบบขายหน้าร้าน (POS) ตลาดสดทวีโรจน์</dc:title>
  <dc:subject>PptxGenJS Presentation</dc:subject>
  <dc:creator>นายวิทยา, นายภคพล วราสินธ์</dc:creator>
  <cp:lastModifiedBy>นายวิทยา, นายภคพล วราสินธ์</cp:lastModifiedBy>
  <cp:revision>1</cp:revision>
  <dcterms:created xsi:type="dcterms:W3CDTF">2026-09-27T11:44:55Z</dcterms:created>
  <dcterms:modified xsi:type="dcterms:W3CDTF">2026-09-27T11:44:55Z</dcterms:modified>
</cp:coreProperties>
</file>