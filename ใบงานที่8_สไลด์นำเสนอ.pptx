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สวัสดีครับอาจารย์ กลุ่มที่ 1 หัวข้อ AI Coding Assistant วันนี้จะนำเสนอระบบขายหน้าร้าน (POS) ของตลาดสดทวีโรจน์ ที่พัฒนาโดยใช้ AI Coding Assistant ช่วย แบ่งเป็น 3 ช่วง คือ ปัญหาและสถาปัตยกรรม, Live Demo และถาม-ตอบ (ประมาณ 20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ปัญหาที่เราเลือกคือการคิดเงินในตลาดสด ซึ่งยังใช้มือหรือเครื่องคิดเลข ทำให้เกิด 3 ปัญหา: ช้า ผิดพลาด และสต็อกไม่ตรง ร้านค้าเล็กไม่มีงบจ้างโปรแกรมเมอร์ เราจึงสนใจว่า AI Coding Assistant จะช่วยให้สร้างระบบแบบนี้ได้เร็วและถูกลงไหม (ประมาณ 1 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AI Coding Assistant คือ AI ที่ใช้ LLM ช่วยเขียนโค้ดจากคำสั่งภาษาคน เราศึกษา ChatGPT, Copilot และ Codex โดยโครงงานนี้ใช้ ChatGPT เป็นหลัก จากงานวิจัยที่ทบทวน 20 แหล่ง: ด้านดี Copilot ทำให้งานเสร็จเร็วขึ้น 55.8% ด้านเสีย ประมาณ 40% ของโค้ดที่ AI สร้างมีช่องโหว่ และนักพัฒนา 84% ใช้ AI แต่ 46% ไม่ไว้ใจผลลัพธ์ ข้อสรุปคือ AI ช่วยได้ แต่เราต้องตรวจสอบเอง ซึ่งเป็นแนวทางที่เราใช้ทำโครงงาน (ประมาณ 1 นาที 15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วิธีที่เราใช้ AI เป็นวงรอบ 4 ขั้น: เขียน Prompt ให้ชัด, อ่านและให้ AI อธิบายจนเราอธิบายเองได้, ทดสอบ, และแก้ไข ตัวอย่างเช่น Prompt ขอให้เขียน PHP ตัดสต็อกด้วย Transaction AI ช่วยร่างโค้ดและโครงสร้าง แต่ requirement ฐานข้อมูล และการทดสอบเราทำเอง ต่อไปนายภคพลจะเล่าถึงระบบที่ได้ครับ (ประมาณ 1 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นี่คือหน้าจอจริงของระบบ ฝั่งซ้ายเป็นการ์ดสินค้า คลิกแทนการสแกนบาร์โค้ด ฝั่งขวาเป็นตะกร้า ฟังก์ชันหลักมี 6 อย่าง: สแกนสินค้า ตรวจสต็อก คำนวณยอด ลบรายการ ออกใบเสร็จพร้อมบาทเป็นคำ และตัดสต็อกในฐานข้อมูล (ประมาณ 40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ระบบเป็นสถาปัตยกรรม 3 ชั้น: ชั้นแรกหน้าเว็บ JavaScript แยก 5 โมดูล main เป็นตัวควบคุม cart เก็บตะกร้า ui วาดหน้าจอ api คุยกับเซิร์ฟเวอร์ utils แปลงเงิน ชั้นที่สอง PHP 2 ไฟล์เป็น API รับส่ง JSON ชั้นที่สาม MySQL ตาราง products เลือก XAMPP เพราะฟรี รันบนเครื่องเดียวในร้านได้ และ PHP/MySQL ใช้กับ hosting ราคาถูกได้ (ประมาณ 1 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จุดที่เป็น Technical Depth คือการตัดสต็อก ใช้ Transaction ถ้าบิลมี 5 รายการแล้วรายการที่ 3 พัง ทั้งบิลจะ rollback ไม่มีสต็อกค้างครึ่งๆ ใช้ Prepared Statement กัน SQL Injection และเงื่อนไข stock &gt;= ? กันสต็อกติดลบ ตรวจ affected_rows ถ้าเป็น 0 แปลว่าของไม่พอ รวมแล้วตรวจสต็อก 3 ชั้น คือหน้าเว็บ PHP และฐานข้อมูล ต่อไปจะสาธิตระบบจริงครับ (ประมาณ 1 นาที 15 วินาที) ⏱ ถึงตรงนี้ควรใช้เวลาไม่เกิน 6 นาที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[สลับไปหน้าเว็บ http://localhost/thawirot-pos/] ดูสคริปต์ Demo อย่างละเอียดในเอกสารใบงานที่ 8 / ขั้น 1–4: นายวิทยา พูด นายภคพล คลิก / ขั้น 5–7: นายภคพล พูด นายวิทยา คลิก ถ้าระบบมีปัญหา: MySQL ล่ม หน้าเว็บจะเข้าโหมดสาธิตเอง (แถบสีเหลือง) ยังสาธิตได้ / ถ้าเปิดไม่ได้เลย เปิด backup/Fallback_Demo_Video.mp4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ผลการทดสอบ: System Test บน XAMPP จริง 15 กรณีผ่านทั้งหมด รวมถึงกรณีที่บิลมีสินค้าไม่พอแล้วระบบ rollback ทั้งบิล และลองโจมตี SQL Injection Unit Test อัตโนมัติผ่าน 14 จาก 14 เพื่อนประเมินว่าใช้ง่าย ถูกต้อง เร็ว และมีประโยชน์ ข้อที่ติคือความสวยงาม ขาดสีชี้นำ ซึ่งเราปรับปรุงแล้วตามที่เห็นใน Demo (ประมาณ 40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[นายวิทยา] ตอนทดสอบเราเจอ Bug 4 จุด ที่สำคัญคือสต็อกในฐานข้อมูลติดลบได้ และฟังก์ชันบาทเป็นคำอ่าน 1 ล้านบาทเป็น หนึ่งบาทถ้วน ทุกจุดเป็นกรณีขอบที่ใช้งานปกติไม่เจอ ตรงกับงานวิจัยที่บอกว่าต้องตรวจสอบโค้ดจาก AI เราจึงเขียนชุดทดสอบไว้รันซ้ำ (ประมาณ 50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ข้อจำกัดที่เรารู้: ยังจำลองการสแกน ยังไม่เก็บประวัติการขาย ตัดสต็อกตอนปิดใบเสร็จ และยังไม่มี Login แนวทางต่อคือรองรับเครื่องสแกนจริง ซึ่งเครื่องสแกน USB ทำงานเหมือนคีย์บอร์ด จึงเพิ่มแค่ช่องรับรหัส เพิ่มตาราง sales สำหรับรายงาน และระบบทอนเงิน (ประมาณ 40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[นายภคพล] สรุป: ระบบแก้ปัญหาการคิดเงินในตลาดสดได้จริง AI ช่วยให้เราพัฒนาได้เร็ว แต่ก็เจอ Bug ที่ต้องตรวจเอง บทเรียนของกลุ่มคือ AI เป็นผู้ช่วยที่ดี แต่ผู้พัฒนาต้องเข้าใจและรับผิดชอบโค้ดเอง ขอบคุณครับ พร้อมรับคำถามครับ (ประมาณ 30 วินาที)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13–15 นาที: ถาม-ตอบ ดูคลังคำถาม-คำตอบ 20 ข้อในเอกสารใบงานที่ 8 และคู่มือเตรียมสอบ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ittayaaasei-eng/thawirot-pos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BBAIS219 หัวข้อพิเศษในการพัฒนาซอฟต์แวร์  ·  กลุ่ม 1 AI Coding Assistant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th-TH" altLang="en-US" sz="4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ระบบขายหน้าร้าน (POS)</a:t>
            </a:r>
            <a:endParaRPr lang="th-TH" sz="4000" dirty="0"/>
          </a:p>
          <a:p>
            <a:pPr indent="0" marL="0">
              <a:lnSpc>
                <a:spcPct val="95000"/>
              </a:lnSpc>
              <a:buNone/>
            </a:pPr>
            <a:r>
              <a:rPr lang="th-TH" altLang="en-US" sz="40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ตลาดสดทวีโรจน์</a:t>
            </a:r>
            <a:endParaRPr lang="th-TH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260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พัฒนาด้วยเทคโนโลยี AI Coding Assistant</a:t>
            </a:r>
            <a:endParaRPr lang="th-TH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</a:t>
            </a:r>
            <a:endParaRPr lang="th-TH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420624" cy="42062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42" y="4452762"/>
            <a:ext cx="201900" cy="201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439826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นายวิทยา</a:t>
            </a:r>
            <a:pPr indent="0" marL="0">
              <a:buNone/>
            </a:pPr>
            <a:r>
              <a:rPr lang="th-TH" altLang="en-US" sz="16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66541207018-7</a:t>
            </a:r>
            <a:endParaRPr lang="th-TH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4910328"/>
            <a:ext cx="420624" cy="42062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5019690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07008" y="49651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นายภคพล วราสินธ์</a:t>
            </a:r>
            <a:pPr indent="0" marL="0">
              <a:buNone/>
            </a:pPr>
            <a:r>
              <a:rPr lang="th-TH" altLang="en-US" sz="16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66541207074-0</a:t>
            </a:r>
            <a:endParaRPr lang="th-TH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28 กันยายน 2569  ·  บธ.3-505</a:t>
            </a:r>
            <a:endParaRPr lang="th-TH" sz="1200" dirty="0"/>
          </a:p>
        </p:txBody>
      </p:sp>
      <p:sp>
        <p:nvSpPr>
          <p:cNvPr id="13" name="Shape 9"/>
          <p:cNvSpPr/>
          <p:nvPr/>
        </p:nvSpPr>
        <p:spPr>
          <a:xfrm>
            <a:off x="6647688" y="1024128"/>
            <a:ext cx="5084064" cy="2788439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Image 2" descr="C:/หัวข้อพิเศษ/backup/img/01_pos_m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097280"/>
            <a:ext cx="4937760" cy="2642135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390888" y="3172968"/>
            <a:ext cx="2478024" cy="2517996"/>
          </a:xfrm>
          <a:prstGeom prst="roundRect">
            <a:avLst>
              <a:gd name="adj" fmla="val 3690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6" name="Image 3" descr="C:\Users\Sompong\AppData\Local\Temp\claude\c-------------\9c712c20-6e16-447e-a4dc-77eb0bcd1417\scratchpad\deck\receipt_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3246120"/>
            <a:ext cx="2331720" cy="23716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  ·  BUSINESS PROBLEM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ปัญหาทางธุรกิจ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 / 13</a:t>
            </a:r>
            <a:endParaRPr lang="th-TH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4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พ่อค้าแม่ค้าในตลาดสดทวีโรจน์</a:t>
            </a:r>
            <a:endParaRPr lang="th-TH" sz="2400" dirty="0"/>
          </a:p>
          <a:p>
            <a:pPr indent="0" marL="0">
              <a:buNone/>
            </a:pPr>
            <a:r>
              <a:rPr lang="th-TH" altLang="en-US" sz="24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ยังคิดเงินด้วยมือหรือเครื่องคิดเลข</a:t>
            </a:r>
            <a:endParaRPr lang="th-TH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632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ช่วงเช้าและเย็นลูกค้าหนาแน่น ผู้ขายต้องคิดเงินหลายรายการต่อบิล ขณะที่ร้านเล็กไม่มีงบจ้างโปรแกรมเมอร์ทำระบบ</a:t>
            </a:r>
            <a:endParaRPr lang="th-TH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4937760" cy="1691640"/>
          </a:xfrm>
          <a:prstGeom prst="roundRect">
            <a:avLst>
              <a:gd name="adj" fmla="val 6486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4572000"/>
            <a:ext cx="566928" cy="56692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4719401"/>
            <a:ext cx="272125" cy="27212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4590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เป้าหมาย</a:t>
            </a:r>
            <a:endParaRPr lang="th-TH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49834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ระบบที่คิดเงินได้ถูกต้องและรวดเร็ว ออกใบเสร็จได้ และตัดสต็อกอัตโนมัติ พัฒนาได้เร็วด้วย AI</a:t>
            </a:r>
            <a:endParaRPr lang="th-TH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178308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04825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6715" y="2238451"/>
            <a:ext cx="351130" cy="35113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06640" y="20391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ช้า</a:t>
            </a:r>
            <a:endParaRPr lang="th-TH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7406640" y="2468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ลูกค้ารอคิวนาน คิดเงินทีละรายการ</a:t>
            </a:r>
            <a:endParaRPr lang="th-TH" sz="1400" dirty="0"/>
          </a:p>
        </p:txBody>
      </p:sp>
      <p:sp>
        <p:nvSpPr>
          <p:cNvPr id="18" name="Shape 14"/>
          <p:cNvSpPr/>
          <p:nvPr/>
        </p:nvSpPr>
        <p:spPr>
          <a:xfrm>
            <a:off x="6172200" y="324612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46520" y="351129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715" y="3701491"/>
            <a:ext cx="351130" cy="35113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350215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ผิดพลาด (Human Error)</a:t>
            </a:r>
            <a:endParaRPr lang="th-TH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740664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คิดเงินผิด ทอนผิด จดจำนวนสินค้าผิด</a:t>
            </a:r>
            <a:endParaRPr lang="th-TH" sz="1400" dirty="0"/>
          </a:p>
        </p:txBody>
      </p:sp>
      <p:sp>
        <p:nvSpPr>
          <p:cNvPr id="23" name="Shape 18"/>
          <p:cNvSpPr/>
          <p:nvPr/>
        </p:nvSpPr>
        <p:spPr>
          <a:xfrm>
            <a:off x="6172200" y="4709160"/>
            <a:ext cx="5376672" cy="1261872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974336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6715" y="5164531"/>
            <a:ext cx="351130" cy="35113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06640" y="49651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สต็อกไม่ตรง</a:t>
            </a:r>
            <a:endParaRPr lang="th-TH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406640" y="5394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ยอดขายและของคงเหลือไม่ตรงกับความจริง</a:t>
            </a:r>
            <a:endParaRPr lang="th-TH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  ·  เทคโนโลยีที่ศึกษา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Coding Assistant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/ 13</a:t>
            </a:r>
            <a:endParaRPr lang="th-TH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ที่ใช้โมเดลภาษาขนาดใหญ่ (LLM) ช่วย </a:t>
            </a:r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เขียนโค้ด อธิบายโค้ด และหา Bug</a:t>
            </a:r>
            <a:pPr indent="0" marL="0">
              <a:buNone/>
            </a:pPr>
            <a:r>
              <a:rPr lang="th-TH" altLang="en-US" sz="16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จากคำสั่งภาษาธรรมชาติ (Prompt)</a:t>
            </a:r>
            <a:endParaRPr lang="th-TH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72384"/>
            <a:ext cx="548640" cy="54864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3215030"/>
            <a:ext cx="263347" cy="26334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54480" y="30358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ChatGPT</a:t>
            </a:r>
            <a:endParaRPr lang="th-TH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33832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เครื่องมือหลักที่ใช้ในโครงงานนี้</a:t>
            </a:r>
            <a:endParaRPr lang="th-TH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93192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" y="4078224"/>
            <a:ext cx="548640" cy="54864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606" y="4220870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554480" y="40416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GitHub Copilot</a:t>
            </a:r>
            <a:endParaRPr lang="th-TH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554480" y="43891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เติมโค้ดอัตโนมัติใน VS Code</a:t>
            </a:r>
            <a:endParaRPr lang="th-TH" sz="1300" dirty="0"/>
          </a:p>
        </p:txBody>
      </p:sp>
      <p:sp>
        <p:nvSpPr>
          <p:cNvPr id="17" name="Shape 13"/>
          <p:cNvSpPr/>
          <p:nvPr/>
        </p:nvSpPr>
        <p:spPr>
          <a:xfrm>
            <a:off x="640080" y="493776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" y="5084064"/>
            <a:ext cx="548640" cy="548640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5226710"/>
            <a:ext cx="263347" cy="26334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50474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/ Coding Agent</a:t>
            </a:r>
            <a:endParaRPr lang="th-TH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1554480" y="5394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แก้ไขได้ทั้งโปรเจกต์ รันและทดสอบเอง</a:t>
            </a:r>
            <a:endParaRPr lang="th-TH" sz="1300" dirty="0"/>
          </a:p>
        </p:txBody>
      </p:sp>
      <p:sp>
        <p:nvSpPr>
          <p:cNvPr id="22" name="Shape 17"/>
          <p:cNvSpPr/>
          <p:nvPr/>
        </p:nvSpPr>
        <p:spPr>
          <a:xfrm>
            <a:off x="6263640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6400800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0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55.8%</a:t>
            </a:r>
            <a:endParaRPr lang="th-TH" sz="3000" dirty="0"/>
          </a:p>
        </p:txBody>
      </p:sp>
      <p:sp>
        <p:nvSpPr>
          <p:cNvPr id="24" name="Text 19"/>
          <p:cNvSpPr txBox="1"/>
          <p:nvPr/>
        </p:nvSpPr>
        <p:spPr>
          <a:xfrm>
            <a:off x="6400800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งานเสร็จเร็วขึ้นเมื่อใช้ Copilot</a:t>
            </a:r>
            <a:endParaRPr lang="th-TH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6400800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Peng et al., 2023</a:t>
            </a:r>
            <a:endParaRPr lang="th-TH" sz="950" dirty="0"/>
          </a:p>
        </p:txBody>
      </p:sp>
      <p:sp>
        <p:nvSpPr>
          <p:cNvPr id="26" name="Shape 21"/>
          <p:cNvSpPr/>
          <p:nvPr/>
        </p:nvSpPr>
        <p:spPr>
          <a:xfrm>
            <a:off x="8065008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8202168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0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~40%</a:t>
            </a:r>
            <a:endParaRPr lang="th-TH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8202168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ของโค้ดที่ AI สร้างมีช่องโหว่</a:t>
            </a:r>
            <a:endParaRPr lang="th-TH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8202168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Pearce et al., 2022</a:t>
            </a:r>
            <a:endParaRPr lang="th-TH" sz="950" dirty="0"/>
          </a:p>
        </p:txBody>
      </p:sp>
      <p:sp>
        <p:nvSpPr>
          <p:cNvPr id="30" name="Shape 25"/>
          <p:cNvSpPr/>
          <p:nvPr/>
        </p:nvSpPr>
        <p:spPr>
          <a:xfrm>
            <a:off x="9866376" y="1783080"/>
            <a:ext cx="1627632" cy="251460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10003536" y="1965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000" b="1" dirty="0">
                <a:solidFill>
                  <a:srgbClr val="B779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84%</a:t>
            </a:r>
            <a:endParaRPr lang="th-TH" sz="3000" dirty="0"/>
          </a:p>
        </p:txBody>
      </p:sp>
      <p:sp>
        <p:nvSpPr>
          <p:cNvPr id="32" name="Text 27"/>
          <p:cNvSpPr txBox="1"/>
          <p:nvPr/>
        </p:nvSpPr>
        <p:spPr>
          <a:xfrm>
            <a:off x="10003536" y="269748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นักพัฒนาใช้ AI แต่ 46% ไม่ไว้ใจผลลัพธ์</a:t>
            </a:r>
            <a:endParaRPr lang="th-TH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10003536" y="3840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9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Stack Overflow, 2025</a:t>
            </a:r>
            <a:endParaRPr lang="th-TH" sz="950" dirty="0"/>
          </a:p>
        </p:txBody>
      </p:sp>
      <p:sp>
        <p:nvSpPr>
          <p:cNvPr id="34" name="Shape 29"/>
          <p:cNvSpPr/>
          <p:nvPr/>
        </p:nvSpPr>
        <p:spPr>
          <a:xfrm>
            <a:off x="6263640" y="4526280"/>
            <a:ext cx="5230368" cy="1572768"/>
          </a:xfrm>
          <a:prstGeom prst="roundRect">
            <a:avLst>
              <a:gd name="adj" fmla="val 6977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492240" y="4773168"/>
            <a:ext cx="548640" cy="54864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886" y="4915814"/>
            <a:ext cx="263347" cy="263347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7223760" y="4709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ข้อสรุปจากงานวิจัย 20 แหล่ง</a:t>
            </a:r>
            <a:endParaRPr lang="th-TH" sz="1300" dirty="0"/>
          </a:p>
        </p:txBody>
      </p:sp>
      <p:sp>
        <p:nvSpPr>
          <p:cNvPr id="38" name="Text 32"/>
          <p:cNvSpPr txBox="1"/>
          <p:nvPr/>
        </p:nvSpPr>
        <p:spPr>
          <a:xfrm>
            <a:off x="7223760" y="502920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ช่วยให้เร็วขึ้นจริง แต่ผู้พัฒนาต้องเข้าใจ ตรวจสอบ และทดสอบโค้ดเอง</a:t>
            </a:r>
            <a:endParaRPr lang="th-TH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  ·  วิธีทำงานร่วมกับ AI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เราใช้ AI พัฒนาระบบอย่างไร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856" y="2182856"/>
            <a:ext cx="316017" cy="31601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642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1</a:t>
            </a:r>
            <a:endParaRPr lang="th-TH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6642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Prompt</a:t>
            </a:r>
            <a:endParaRPr lang="th-TH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ระบุภาษา เงื่อนไข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และตัวอย่างผลลัพธ์</a:t>
            </a:r>
            <a:endParaRPr lang="th-TH" sz="13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824" y="2724912"/>
            <a:ext cx="164592" cy="25603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3832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118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3056" y="2182856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4074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2</a:t>
            </a:r>
            <a:endParaRPr lang="th-TH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4074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 &amp; เข้าใจ</a:t>
            </a:r>
            <a:endParaRPr lang="th-TH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36118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ให้ AI อธิบายทีละส่วน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จนอธิบายเองได้</a:t>
            </a:r>
            <a:endParaRPr lang="th-TH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024" y="2724912"/>
            <a:ext cx="164592" cy="25603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1264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55080" y="2011680"/>
            <a:ext cx="658368" cy="65836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6256" y="2182856"/>
            <a:ext cx="316017" cy="31601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506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3</a:t>
            </a:r>
            <a:endParaRPr lang="th-TH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71506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</a:t>
            </a:r>
            <a:endParaRPr lang="th-TH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63550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ทดสอบบนเบราว์เซอร์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+ ชุดทดสอบอัตโนมัติ</a:t>
            </a:r>
            <a:endParaRPr lang="th-TH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0224" y="2724912"/>
            <a:ext cx="164592" cy="256032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8869680" y="178308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9098280" y="2011680"/>
            <a:ext cx="658368" cy="658368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9456" y="2182856"/>
            <a:ext cx="316017" cy="316017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893808" y="2057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ขั้นที่ 4</a:t>
            </a:r>
            <a:endParaRPr lang="th-TH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9893808" y="230428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แก้ไข</a:t>
            </a:r>
            <a:endParaRPr lang="th-TH" sz="1700" dirty="0"/>
          </a:p>
        </p:txBody>
      </p:sp>
      <p:sp>
        <p:nvSpPr>
          <p:cNvPr id="32" name="Text 23"/>
          <p:cNvSpPr txBox="1"/>
          <p:nvPr/>
        </p:nvSpPr>
        <p:spPr>
          <a:xfrm>
            <a:off x="9098280" y="2926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ส่งอาการ Bug กลับไป</a:t>
            </a:r>
            <a:endParaRPr lang="th-TH" sz="1300" dirty="0"/>
          </a:p>
          <a:p>
            <a:pPr indent="0" marL="0">
              <a:buNone/>
            </a:pPr>
            <a:r>
              <a:rPr lang="th-TH" altLang="en-US" sz="13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หรือแก้เอง แล้วทดสอบซ้ำ</a:t>
            </a:r>
            <a:endParaRPr lang="th-TH" sz="1300" dirty="0"/>
          </a:p>
        </p:txBody>
      </p:sp>
      <p:sp>
        <p:nvSpPr>
          <p:cNvPr id="33" name="Shape 24"/>
          <p:cNvSpPr/>
          <p:nvPr/>
        </p:nvSpPr>
        <p:spPr>
          <a:xfrm>
            <a:off x="640080" y="4251960"/>
            <a:ext cx="6492240" cy="1874520"/>
          </a:xfrm>
          <a:prstGeom prst="roundRect">
            <a:avLst>
              <a:gd name="adj" fmla="val 5854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480560"/>
            <a:ext cx="384048" cy="3840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1417320" y="4480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 Prompt ที่ใช้จริง</a:t>
            </a:r>
            <a:endParaRPr lang="th-TH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868680" y="49377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i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"เขียน PHP รับ JSON ตะกร้าสินค้า แล้วตัดสต็อกใน MySQL ใช้ Prepared Statement และ Transaction ถ้ารายการใดผิดพลาดให้ยกเลิกทั้งบิล"</a:t>
            </a:r>
            <a:endParaRPr lang="th-TH" sz="1500" dirty="0"/>
          </a:p>
        </p:txBody>
      </p:sp>
      <p:sp>
        <p:nvSpPr>
          <p:cNvPr id="37" name="Text 27"/>
          <p:cNvSpPr txBox="1"/>
          <p:nvPr/>
        </p:nvSpPr>
        <p:spPr>
          <a:xfrm>
            <a:off x="7498080" y="4251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</a:t>
            </a:r>
            <a:endParaRPr lang="th-TH" sz="1500" dirty="0"/>
          </a:p>
        </p:txBody>
      </p:sp>
      <p:sp>
        <p:nvSpPr>
          <p:cNvPr id="38" name="Text 28"/>
          <p:cNvSpPr txBox="1"/>
          <p:nvPr/>
        </p:nvSpPr>
        <p:spPr>
          <a:xfrm>
            <a:off x="7498080" y="45720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ร่างโครงสร้าง 5 โมดูล JS · เขียน PHP API · ฟังก์ชันบาทเป็นคำ · หา CSS ที่ขาดหาย</a:t>
            </a:r>
            <a:endParaRPr lang="th-TH" sz="1300" dirty="0"/>
          </a:p>
        </p:txBody>
      </p:sp>
      <p:sp>
        <p:nvSpPr>
          <p:cNvPr id="39" name="Text 29"/>
          <p:cNvSpPr txBox="1"/>
          <p:nvPr/>
        </p:nvSpPr>
        <p:spPr>
          <a:xfrm>
            <a:off x="7498080" y="53035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เราทำเอง</a:t>
            </a:r>
            <a:endParaRPr lang="th-TH" sz="1500" dirty="0"/>
          </a:p>
        </p:txBody>
      </p:sp>
      <p:sp>
        <p:nvSpPr>
          <p:cNvPr id="40" name="Text 30"/>
          <p:cNvSpPr txBox="1"/>
          <p:nvPr/>
        </p:nvSpPr>
        <p:spPr>
          <a:xfrm>
            <a:off x="7498080" y="5623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กำหนด Requirement · ออกแบบฐานข้อมูล · อ่าน ทดสอบ และแก้ทุกไฟล์</a:t>
            </a:r>
            <a:endParaRPr lang="th-TH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  ·  PROTOTYPE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ระบบที่พัฒนา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55648"/>
            <a:ext cx="6638544" cy="3620222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0" descr="C:/หัวข้อพิเศษ/backup/img/01_pos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28800"/>
            <a:ext cx="6492240" cy="347391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48640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หน้าจอจริงบน XAMPP  ·  ซ้าย: การ์ดสินค้า (คลิก = สแกน)  ·  ขวา: ตะกร้าและยอดชำระ</a:t>
            </a:r>
            <a:endParaRPr lang="th-TH" sz="1150" dirty="0"/>
          </a:p>
        </p:txBody>
      </p:sp>
      <p:sp>
        <p:nvSpPr>
          <p:cNvPr id="9" name="Shape 6"/>
          <p:cNvSpPr/>
          <p:nvPr/>
        </p:nvSpPr>
        <p:spPr>
          <a:xfrm>
            <a:off x="7726680" y="182880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9817" y="1961937"/>
            <a:ext cx="245791" cy="24579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12480" y="18013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สแกนสินค้า</a:t>
            </a:r>
            <a:endParaRPr lang="th-TH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2112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จำลองด้วยการคลิกการ์ด</a:t>
            </a:r>
            <a:endParaRPr lang="th-TH" sz="1200" dirty="0"/>
          </a:p>
        </p:txBody>
      </p:sp>
      <p:sp>
        <p:nvSpPr>
          <p:cNvPr id="13" name="Shape 9"/>
          <p:cNvSpPr/>
          <p:nvPr/>
        </p:nvSpPr>
        <p:spPr>
          <a:xfrm>
            <a:off x="7726680" y="2542032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817" y="2675169"/>
            <a:ext cx="245791" cy="24579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412480" y="2514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ตรวจสต็อก</a:t>
            </a:r>
            <a:endParaRPr lang="th-TH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8412480" y="28254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ห้ามขายเกินของที่มี</a:t>
            </a:r>
            <a:endParaRPr lang="th-TH" sz="1200" dirty="0"/>
          </a:p>
        </p:txBody>
      </p:sp>
      <p:sp>
        <p:nvSpPr>
          <p:cNvPr id="17" name="Shape 12"/>
          <p:cNvSpPr/>
          <p:nvPr/>
        </p:nvSpPr>
        <p:spPr>
          <a:xfrm>
            <a:off x="7726680" y="3255264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817" y="3388401"/>
            <a:ext cx="245791" cy="245791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41248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คำนวณยอดอัตโนมัติ</a:t>
            </a:r>
            <a:endParaRPr lang="th-TH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412480" y="3538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ราคา × จำนวน และยอดรวม</a:t>
            </a:r>
            <a:endParaRPr lang="th-TH" sz="1200" dirty="0"/>
          </a:p>
        </p:txBody>
      </p:sp>
      <p:sp>
        <p:nvSpPr>
          <p:cNvPr id="21" name="Shape 15"/>
          <p:cNvSpPr/>
          <p:nvPr/>
        </p:nvSpPr>
        <p:spPr>
          <a:xfrm>
            <a:off x="7726680" y="3968496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9817" y="4101633"/>
            <a:ext cx="245791" cy="24579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412480" y="39410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ลบรายการ</a:t>
            </a:r>
            <a:endParaRPr lang="th-TH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41248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ยอดลด สต็อกคืน</a:t>
            </a:r>
            <a:endParaRPr lang="th-TH" sz="1200" dirty="0"/>
          </a:p>
        </p:txBody>
      </p:sp>
      <p:sp>
        <p:nvSpPr>
          <p:cNvPr id="25" name="Shape 18"/>
          <p:cNvSpPr/>
          <p:nvPr/>
        </p:nvSpPr>
        <p:spPr>
          <a:xfrm>
            <a:off x="7726680" y="4681728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9817" y="4814865"/>
            <a:ext cx="245791" cy="24579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412480" y="46542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ใบเสร็จ + บาทเป็นคำ</a:t>
            </a:r>
            <a:endParaRPr lang="th-TH" sz="1500" dirty="0"/>
          </a:p>
        </p:txBody>
      </p:sp>
      <p:sp>
        <p:nvSpPr>
          <p:cNvPr id="28" name="Text 20"/>
          <p:cNvSpPr txBox="1"/>
          <p:nvPr/>
        </p:nvSpPr>
        <p:spPr>
          <a:xfrm>
            <a:off x="841248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เลขที่ วันที่ไทย พิมพ์ได้</a:t>
            </a:r>
            <a:endParaRPr lang="th-TH" sz="1200" dirty="0"/>
          </a:p>
        </p:txBody>
      </p:sp>
      <p:sp>
        <p:nvSpPr>
          <p:cNvPr id="29" name="Shape 21"/>
          <p:cNvSpPr/>
          <p:nvPr/>
        </p:nvSpPr>
        <p:spPr>
          <a:xfrm>
            <a:off x="7726680" y="5394960"/>
            <a:ext cx="512064" cy="512064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9817" y="5528097"/>
            <a:ext cx="245791" cy="245791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412480" y="53675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ตัดสต็อกในฐานข้อมูล</a:t>
            </a:r>
            <a:endParaRPr lang="th-TH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8412480" y="56784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Transaction ทั้งบิล</a:t>
            </a:r>
            <a:endParaRPr lang="th-TH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  ·  ARCHITECTURE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สถาปัตยกรรมระบบ 3 ชั้น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55648"/>
            <a:ext cx="7644384" cy="3230320"/>
          </a:xfrm>
          <a:prstGeom prst="roundRect">
            <a:avLst>
              <a:gd name="adj" fmla="val 2831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Image 0" descr="C:/หัวข้อพิเศษ/backup/img/0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28800"/>
            <a:ext cx="7498080" cy="308401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4108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ทำไมเลือกเทคโนโลยีนี้</a:t>
            </a:r>
            <a:endParaRPr lang="th-TH" sz="1600" dirty="0"/>
          </a:p>
        </p:txBody>
      </p:sp>
      <p:sp>
        <p:nvSpPr>
          <p:cNvPr id="9" name="Shape 6"/>
          <p:cNvSpPr/>
          <p:nvPr/>
        </p:nvSpPr>
        <p:spPr>
          <a:xfrm>
            <a:off x="8641080" y="228600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2404872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235440" y="226771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XAMPP ฟรี ติดตั้งง่าย รันบนคอมเครื่องเดียวในร้านได้</a:t>
            </a:r>
            <a:endParaRPr lang="th-TH" sz="1250" dirty="0"/>
          </a:p>
        </p:txBody>
      </p:sp>
      <p:sp>
        <p:nvSpPr>
          <p:cNvPr id="12" name="Shape 8"/>
          <p:cNvSpPr/>
          <p:nvPr/>
        </p:nvSpPr>
        <p:spPr>
          <a:xfrm>
            <a:off x="8641080" y="315468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327355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35440" y="31363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PHP + MySQL ใช้บน Hosting ราคาถูกได้ทั่วไป</a:t>
            </a:r>
            <a:endParaRPr lang="th-TH" sz="1250" dirty="0"/>
          </a:p>
        </p:txBody>
      </p:sp>
      <p:sp>
        <p:nvSpPr>
          <p:cNvPr id="15" name="Shape 10"/>
          <p:cNvSpPr/>
          <p:nvPr/>
        </p:nvSpPr>
        <p:spPr>
          <a:xfrm>
            <a:off x="8641080" y="402336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414223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235440" y="4005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ไม่ใช้ Framework จึงเห็นกลไกจริงทุกขั้น</a:t>
            </a:r>
            <a:endParaRPr lang="th-TH" sz="1250" dirty="0"/>
          </a:p>
        </p:txBody>
      </p:sp>
      <p:sp>
        <p:nvSpPr>
          <p:cNvPr id="18" name="Shape 12"/>
          <p:cNvSpPr/>
          <p:nvPr/>
        </p:nvSpPr>
        <p:spPr>
          <a:xfrm>
            <a:off x="8641080" y="4892040"/>
            <a:ext cx="457200" cy="45720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5010912"/>
            <a:ext cx="219456" cy="21945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48737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 JS 5 โมดูล แก้ง่าย ทดสอบแยกได้</a:t>
            </a:r>
            <a:endParaRPr lang="th-TH" sz="1250" dirty="0"/>
          </a:p>
        </p:txBody>
      </p:sp>
      <p:sp>
        <p:nvSpPr>
          <p:cNvPr id="21" name="Shape 14"/>
          <p:cNvSpPr/>
          <p:nvPr/>
        </p:nvSpPr>
        <p:spPr>
          <a:xfrm>
            <a:off x="713232" y="5394960"/>
            <a:ext cx="242316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13232" y="5394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HTML · CSS · JavaScript</a:t>
            </a:r>
            <a:endParaRPr lang="th-TH" sz="1200" dirty="0"/>
          </a:p>
        </p:txBody>
      </p:sp>
      <p:sp>
        <p:nvSpPr>
          <p:cNvPr id="23" name="Shape 16"/>
          <p:cNvSpPr/>
          <p:nvPr/>
        </p:nvSpPr>
        <p:spPr>
          <a:xfrm>
            <a:off x="3300984" y="539496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3300984" y="539496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PHP 8.2</a:t>
            </a:r>
            <a:endParaRPr lang="th-TH" sz="1200" dirty="0"/>
          </a:p>
        </p:txBody>
      </p:sp>
      <p:sp>
        <p:nvSpPr>
          <p:cNvPr id="25" name="Shape 18"/>
          <p:cNvSpPr/>
          <p:nvPr/>
        </p:nvSpPr>
        <p:spPr>
          <a:xfrm>
            <a:off x="4425696" y="5394960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4425696" y="539496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MariaDB / MySQL</a:t>
            </a:r>
            <a:endParaRPr lang="th-TH" sz="1200" dirty="0"/>
          </a:p>
        </p:txBody>
      </p:sp>
      <p:sp>
        <p:nvSpPr>
          <p:cNvPr id="27" name="Shape 20"/>
          <p:cNvSpPr/>
          <p:nvPr/>
        </p:nvSpPr>
        <p:spPr>
          <a:xfrm>
            <a:off x="6281928" y="5394960"/>
            <a:ext cx="77724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281928" y="539496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XAMPP</a:t>
            </a:r>
            <a:endParaRPr lang="th-TH" sz="1200" dirty="0"/>
          </a:p>
        </p:txBody>
      </p:sp>
      <p:sp>
        <p:nvSpPr>
          <p:cNvPr id="29" name="Shape 22"/>
          <p:cNvSpPr/>
          <p:nvPr/>
        </p:nvSpPr>
        <p:spPr>
          <a:xfrm>
            <a:off x="7223760" y="539496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223760" y="539496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ChatGPT</a:t>
            </a:r>
            <a:endParaRPr lang="th-TH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  ·  TECHNICAL DEPTH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กลไกสำคัญ: ตัดสต็อกให้ปลอดภัย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760720" cy="3611880"/>
          </a:xfrm>
          <a:prstGeom prst="roundRect">
            <a:avLst>
              <a:gd name="adj" fmla="val 3038"/>
            </a:avLst>
          </a:prstGeom>
          <a:solidFill>
            <a:srgbClr val="1E2A25"/>
          </a:solidFill>
          <a:ln w="12700">
            <a:solidFill>
              <a:srgbClr val="1E2A2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api/update_stock.php</a:t>
            </a:r>
            <a:endParaRPr lang="th-TH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$conn-&gt;begin_transaction();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$sql = "UPDATE products SET stock = stock - ?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barcode = ? AND stock &gt;= ?";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$stmt = $conn-&gt;prepare($sql);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 ($cart as $item) {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$stmt-&gt;bind_param("isi", $qty, $bc, $qty);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$stmt-&gt;execute();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($stmt-&gt;affected_rows === 0)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FFB4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throw new Exception("สต็อกไม่พอ");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th-TH" sz="1250" dirty="0"/>
          </a:p>
          <a:p>
            <a:pPr indent="0" marL="0">
              <a:lnSpc>
                <a:spcPct val="105000"/>
              </a:lnSpc>
              <a:buNone/>
            </a:pPr>
            <a:r>
              <a:rPr lang="th-TH" altLang="en-US" sz="1250" dirty="0">
                <a:solidFill>
                  <a:srgbClr val="95D5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$conn-&gt;commit();   // error → rollback()</a:t>
            </a:r>
            <a:endParaRPr lang="th-TH" sz="1250" dirty="0"/>
          </a:p>
        </p:txBody>
      </p:sp>
      <p:sp>
        <p:nvSpPr>
          <p:cNvPr id="9" name="Shape 7"/>
          <p:cNvSpPr/>
          <p:nvPr/>
        </p:nvSpPr>
        <p:spPr>
          <a:xfrm>
            <a:off x="6720840" y="178308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31152" y="2002536"/>
            <a:ext cx="640080" cy="64008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7573" y="2168957"/>
            <a:ext cx="307238" cy="30723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72400" y="19202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Transaction</a:t>
            </a:r>
            <a:endParaRPr lang="th-TH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2677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ทั้งบิลสำเร็จพร้อมกัน หรือยกเลิกทั้งบิล (commit / rollback)</a:t>
            </a:r>
            <a:endParaRPr lang="th-TH" sz="1250" dirty="0"/>
          </a:p>
        </p:txBody>
      </p:sp>
      <p:sp>
        <p:nvSpPr>
          <p:cNvPr id="14" name="Shape 11"/>
          <p:cNvSpPr/>
          <p:nvPr/>
        </p:nvSpPr>
        <p:spPr>
          <a:xfrm>
            <a:off x="6720840" y="301752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931152" y="3236976"/>
            <a:ext cx="640080" cy="64008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573" y="3403397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772400" y="31546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Prepared Statement</a:t>
            </a:r>
            <a:endParaRPr lang="th-TH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0" y="35021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 ? แยกข้อมูลออกจากคำสั่ง SQL ป้องกัน SQL Injection</a:t>
            </a:r>
            <a:endParaRPr lang="th-TH" sz="1250" dirty="0"/>
          </a:p>
        </p:txBody>
      </p:sp>
      <p:sp>
        <p:nvSpPr>
          <p:cNvPr id="19" name="Shape 15"/>
          <p:cNvSpPr/>
          <p:nvPr/>
        </p:nvSpPr>
        <p:spPr>
          <a:xfrm>
            <a:off x="6720840" y="4251960"/>
            <a:ext cx="4828032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931152" y="4471416"/>
            <a:ext cx="640080" cy="64008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573" y="4637837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772400" y="43891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stock &gt;= ?</a:t>
            </a:r>
            <a:endParaRPr lang="th-TH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7772400" y="473659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กันสต็อกติดลบ เมื่อ 2 เครื่องขายชิ้นสุดท้ายพร้อมกัน</a:t>
            </a:r>
            <a:endParaRPr lang="th-TH" sz="1250" dirty="0"/>
          </a:p>
        </p:txBody>
      </p:sp>
      <p:sp>
        <p:nvSpPr>
          <p:cNvPr id="24" name="Shape 19"/>
          <p:cNvSpPr/>
          <p:nvPr/>
        </p:nvSpPr>
        <p:spPr>
          <a:xfrm>
            <a:off x="640080" y="5596128"/>
            <a:ext cx="10908792" cy="658368"/>
          </a:xfrm>
          <a:prstGeom prst="roundRect">
            <a:avLst>
              <a:gd name="adj" fmla="val 16667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8680" y="559612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ตรวจสต็อก 3 ชั้น:</a:t>
            </a:r>
            <a:pPr indent="0" marL="0">
              <a:buNone/>
            </a:pPr>
            <a:r>
              <a:rPr lang="th-TH" altLang="en-US" sz="1400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  ① หน้าเว็บ (cart.js ไม่ให้เพิ่มเกิน)   →   ② PHP (stock &gt;= ?)   →   ③ ฐานข้อมูล (CHECK stock &gt;= 0)</a:t>
            </a:r>
            <a:endParaRPr lang="th-TH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  ·  6–13 นาที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Live Demo</a:t>
            </a:r>
            <a:endParaRPr lang="th-TH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th-TH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04825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โหลดหน้าระบบ: สินค้าและสต็อกดึงจาก MySQL</a:t>
            </a:r>
            <a:endParaRPr lang="th-TH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596896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th-TH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33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สแกนหลายชิ้น สินค้าเดิมรวมบรรทัดเดียว ยอดขึ้นทันที</a:t>
            </a:r>
            <a:endParaRPr lang="th-TH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182112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th-TH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2186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สแกนจนของหมด: การ์ดจาง กดไม่ได้</a:t>
            </a:r>
            <a:endParaRPr lang="th-TH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52B788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th-TH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8039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ลบรายการ: ยอดลดลง สต็อกคืน</a:t>
            </a:r>
            <a:endParaRPr lang="th-TH" sz="15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525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th-TH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389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ชำระเงิน: ใบเสร็จ + บาทเป็นคำ → พิมพ์</a:t>
            </a:r>
            <a:endParaRPr lang="th-TH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937760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th-TH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9743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ปิดใบเสร็จ แล้วดู phpMyAdmin ว่าสต็อกถูกตัดจริง</a:t>
            </a:r>
            <a:endParaRPr lang="th-TH" sz="1550" dirty="0"/>
          </a:p>
        </p:txBody>
      </p:sp>
      <p:sp>
        <p:nvSpPr>
          <p:cNvPr id="22" name="Shape 20"/>
          <p:cNvSpPr/>
          <p:nvPr/>
        </p:nvSpPr>
        <p:spPr>
          <a:xfrm>
            <a:off x="640080" y="5522976"/>
            <a:ext cx="402336" cy="40233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522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th-TH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55955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5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รันชุดทดสอบ node tests/test_logic.mjs → 14/14</a:t>
            </a:r>
            <a:endParaRPr lang="th-TH" sz="15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447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●  </a:t>
            </a:r>
            <a:pPr indent="0" marL="0">
              <a:buNone/>
            </a:pPr>
            <a:r>
              <a:rPr lang="th-TH" altLang="en-US" sz="11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1–4: นายวิทยา พูด / นายภคพล คลิก      </a:t>
            </a:r>
            <a:pPr indent="0" marL="0">
              <a:buNone/>
            </a:pPr>
            <a:r>
              <a:rPr lang="th-TH" altLang="en-US" sz="1100" dirty="0">
                <a:solidFill>
                  <a:srgbClr val="F4A26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●  </a:t>
            </a:r>
            <a:pPr indent="0" marL="0">
              <a:buNone/>
            </a:pPr>
            <a:r>
              <a:rPr lang="th-TH" altLang="en-US" sz="11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5–7: นายภคพล พูด / นายวิทยา คลิก</a:t>
            </a:r>
            <a:endParaRPr lang="th-TH" sz="1100" dirty="0"/>
          </a:p>
        </p:txBody>
      </p:sp>
      <p:sp>
        <p:nvSpPr>
          <p:cNvPr id="26" name="Shape 24"/>
          <p:cNvSpPr/>
          <p:nvPr/>
        </p:nvSpPr>
        <p:spPr>
          <a:xfrm>
            <a:off x="7744968" y="841248"/>
            <a:ext cx="3803904" cy="3866606"/>
          </a:xfrm>
          <a:prstGeom prst="roundRect">
            <a:avLst>
              <a:gd name="adj" fmla="val 2404"/>
            </a:avLst>
          </a:prstGeom>
          <a:solidFill>
            <a:srgbClr val="FFFFFF"/>
          </a:solidFill>
          <a:ln w="12700">
            <a:solidFill>
              <a:srgbClr val="DDE5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7" name="Image 0" descr="C:\Users\Sompong\AppData\Local\Temp\claude\c-------------\9c712c20-6e16-447e-a4dc-77eb0bcd1417\scratchpad\deck\receipt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914400"/>
            <a:ext cx="3657600" cy="3720302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818120" y="4937760"/>
            <a:ext cx="457200" cy="4572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5056632"/>
            <a:ext cx="219456" cy="219456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8412480" y="48463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แผนสำรอง</a:t>
            </a:r>
            <a:endParaRPr lang="th-TH" sz="1150" dirty="0"/>
          </a:p>
          <a:p>
            <a:pPr indent="0" marL="0">
              <a:buNone/>
            </a:pPr>
            <a:r>
              <a:rPr lang="th-TH" altLang="en-US" sz="11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MySQL ล่ม → โหมดสาธิตอัตโนมัติ</a:t>
            </a:r>
            <a:endParaRPr lang="th-TH" sz="1150" dirty="0"/>
          </a:p>
          <a:p>
            <a:pPr indent="0" marL="0">
              <a:buNone/>
            </a:pPr>
            <a:r>
              <a:rPr lang="th-TH" altLang="en-US" sz="115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คอมพัง → Fallback Video</a:t>
            </a:r>
            <a:endParaRPr lang="th-TH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  ·  RESULTS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ผลการทดสอบ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91840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9241" y="2113361"/>
            <a:ext cx="272125" cy="27212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15/15</a:t>
            </a:r>
            <a:endParaRPr lang="th-TH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System Test บน XAMPP จริง</a:t>
            </a:r>
            <a:endParaRPr lang="th-TH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 Rollback ทั้งบิล และ SQL Injection</a:t>
            </a:r>
            <a:endParaRPr lang="th-TH" sz="1250" dirty="0"/>
          </a:p>
        </p:txBody>
      </p:sp>
      <p:sp>
        <p:nvSpPr>
          <p:cNvPr id="12" name="Shape 9"/>
          <p:cNvSpPr/>
          <p:nvPr/>
        </p:nvSpPr>
        <p:spPr>
          <a:xfrm>
            <a:off x="4361688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13448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849" y="211336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36008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14/14</a:t>
            </a:r>
            <a:endParaRPr lang="th-TH" sz="4400" dirty="0"/>
          </a:p>
        </p:txBody>
      </p:sp>
      <p:sp>
        <p:nvSpPr>
          <p:cNvPr id="16" name="Text 12"/>
          <p:cNvSpPr txBox="1"/>
          <p:nvPr/>
        </p:nvSpPr>
        <p:spPr>
          <a:xfrm>
            <a:off x="4636008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Unit Test อัตโนมัติ</a:t>
            </a:r>
            <a:endParaRPr lang="th-TH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636008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ตะกร้าสินค้า + แปลงเงินเป็นคำอ่านไทย</a:t>
            </a:r>
            <a:endParaRPr lang="th-TH" sz="1250" dirty="0"/>
          </a:p>
        </p:txBody>
      </p:sp>
      <p:sp>
        <p:nvSpPr>
          <p:cNvPr id="18" name="Shape 14"/>
          <p:cNvSpPr/>
          <p:nvPr/>
        </p:nvSpPr>
        <p:spPr>
          <a:xfrm>
            <a:off x="8083296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10735056" y="1965960"/>
            <a:ext cx="566928" cy="566928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2457" y="2113361"/>
            <a:ext cx="272125" cy="27212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57616" y="1920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4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 ด้าน</a:t>
            </a:r>
            <a:endParaRPr lang="th-TH" sz="4400" dirty="0"/>
          </a:p>
        </p:txBody>
      </p:sp>
      <p:sp>
        <p:nvSpPr>
          <p:cNvPr id="22" name="Text 17"/>
          <p:cNvSpPr txBox="1"/>
          <p:nvPr/>
        </p:nvSpPr>
        <p:spPr>
          <a:xfrm>
            <a:off x="8357616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ประเมินโดยเพื่อน</a:t>
            </a:r>
            <a:endParaRPr lang="th-TH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57616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ใช้ง่าย ถูกต้อง เร็ว และมีประโยชน์</a:t>
            </a:r>
            <a:endParaRPr lang="th-TH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64008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ผลประเมินจากผู้ใช้ทดลอง (ใบงานที่ 6)</a:t>
            </a:r>
            <a:endParaRPr lang="th-TH" sz="1600" dirty="0"/>
          </a:p>
        </p:txBody>
      </p:sp>
      <p:sp>
        <p:nvSpPr>
          <p:cNvPr id="25" name="Shape 20"/>
          <p:cNvSpPr/>
          <p:nvPr/>
        </p:nvSpPr>
        <p:spPr>
          <a:xfrm>
            <a:off x="640080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46320"/>
            <a:ext cx="292608" cy="29260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07008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ใช้งานง่าย</a:t>
            </a:r>
            <a:endParaRPr lang="th-TH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822960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ไม่ซับซ้อน เรียนรู้เร็ว</a:t>
            </a:r>
            <a:endParaRPr lang="th-TH" sz="1200" dirty="0"/>
          </a:p>
        </p:txBody>
      </p:sp>
      <p:sp>
        <p:nvSpPr>
          <p:cNvPr id="29" name="Shape 23"/>
          <p:cNvSpPr/>
          <p:nvPr/>
        </p:nvSpPr>
        <p:spPr>
          <a:xfrm>
            <a:off x="2862072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4846320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429000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ความถูกต้อง</a:t>
            </a:r>
            <a:endParaRPr lang="th-TH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3044952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คำนวณและสแกนถูกต้อง</a:t>
            </a:r>
            <a:endParaRPr lang="th-TH" sz="1200" dirty="0"/>
          </a:p>
        </p:txBody>
      </p:sp>
      <p:sp>
        <p:nvSpPr>
          <p:cNvPr id="33" name="Shape 26"/>
          <p:cNvSpPr/>
          <p:nvPr/>
        </p:nvSpPr>
        <p:spPr>
          <a:xfrm>
            <a:off x="5084064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944" y="4846320"/>
            <a:ext cx="292608" cy="29260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650992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ความเร็ว</a:t>
            </a:r>
            <a:endParaRPr lang="th-TH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5266944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ไม่กระตุก ไม่โหลดช้า</a:t>
            </a:r>
            <a:endParaRPr lang="th-TH" sz="1200" dirty="0"/>
          </a:p>
        </p:txBody>
      </p:sp>
      <p:sp>
        <p:nvSpPr>
          <p:cNvPr id="37" name="Shape 29"/>
          <p:cNvSpPr/>
          <p:nvPr/>
        </p:nvSpPr>
        <p:spPr>
          <a:xfrm>
            <a:off x="7306056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8936" y="4846320"/>
            <a:ext cx="292608" cy="29260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872984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ความสวยงาม</a:t>
            </a:r>
            <a:endParaRPr lang="th-TH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7488936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ขาดสีชี้นำ → ปรับปรุงแล้ว</a:t>
            </a:r>
            <a:endParaRPr lang="th-TH" sz="1200" dirty="0"/>
          </a:p>
        </p:txBody>
      </p:sp>
      <p:sp>
        <p:nvSpPr>
          <p:cNvPr id="41" name="Shape 32"/>
          <p:cNvSpPr/>
          <p:nvPr/>
        </p:nvSpPr>
        <p:spPr>
          <a:xfrm>
            <a:off x="9528048" y="4663440"/>
            <a:ext cx="2057400" cy="1143000"/>
          </a:xfrm>
          <a:prstGeom prst="roundRect">
            <a:avLst>
              <a:gd name="adj" fmla="val 9600"/>
            </a:avLst>
          </a:prstGeom>
          <a:solidFill>
            <a:srgbClr val="EEF8F0"/>
          </a:solidFill>
          <a:ln w="12700">
            <a:solidFill>
              <a:srgbClr val="EEF8F0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0928" y="4846320"/>
            <a:ext cx="292608" cy="292608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10094976" y="48188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ประโยชน์</a:t>
            </a:r>
            <a:endParaRPr lang="th-TH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710928" y="5285232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ลดความผิดพลาดได้จริง</a:t>
            </a:r>
            <a:endParaRPr lang="th-TH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  ·  LESSONS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Bug ที่พบ: หลักฐานว่าโค้ดจาก AI ต้องทดสอบ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นายวิทยา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011680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159081"/>
            <a:ext cx="272125" cy="27212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0025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สต็อกในฐานข้อมูลติดลบได้</a:t>
            </a:r>
            <a:endParaRPr lang="th-TH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00200" y="2423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SQL ตัดสต็อกโดยไม่ตรวจว่าพอหรือไม่</a:t>
            </a:r>
            <a:endParaRPr lang="th-TH" sz="12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880360"/>
            <a:ext cx="246888" cy="2468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38528" y="282549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เพิ่ม stock &gt;= ? + affected_rows + CHECK</a:t>
            </a:r>
            <a:endParaRPr lang="th-TH" sz="1300" dirty="0"/>
          </a:p>
        </p:txBody>
      </p:sp>
      <p:sp>
        <p:nvSpPr>
          <p:cNvPr id="13" name="Shape 9"/>
          <p:cNvSpPr/>
          <p:nvPr/>
        </p:nvSpPr>
        <p:spPr>
          <a:xfrm>
            <a:off x="6199632" y="1783080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28232" y="2011680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633" y="2159081"/>
            <a:ext cx="272125" cy="27212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59752" y="20025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1,000,000 บาท → "หนึ่งบาทถ้วน"</a:t>
            </a:r>
            <a:endParaRPr lang="th-TH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7159752" y="2423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ฟังก์ชันไม่รองรับหลักล้าน</a:t>
            </a:r>
            <a:endParaRPr lang="th-TH" sz="12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9752" y="2880360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98080" y="2825496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วนหน่วยทุก 6 หลัก แล้วเติม "ล้าน"</a:t>
            </a:r>
            <a:endParaRPr lang="th-TH" sz="1300" dirty="0"/>
          </a:p>
        </p:txBody>
      </p:sp>
      <p:sp>
        <p:nvSpPr>
          <p:cNvPr id="20" name="Shape 14"/>
          <p:cNvSpPr/>
          <p:nvPr/>
        </p:nvSpPr>
        <p:spPr>
          <a:xfrm>
            <a:off x="640080" y="3630168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68680" y="3858768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081" y="4006169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00200" y="38496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0.01 บาท → "เอ็ดสตางค์"</a:t>
            </a:r>
            <a:endParaRPr lang="th-TH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1600200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เงื่อนไขคำว่า "เอ็ด" ผิด</a:t>
            </a:r>
            <a:endParaRPr lang="th-TH" sz="12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0200" y="4727448"/>
            <a:ext cx="246888" cy="24688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938528" y="467258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 "เอ็ด" เมื่อมีหลักอื่นนำหน้าเท่านั้น</a:t>
            </a:r>
            <a:endParaRPr lang="th-TH" sz="1300" dirty="0"/>
          </a:p>
        </p:txBody>
      </p:sp>
      <p:sp>
        <p:nvSpPr>
          <p:cNvPr id="27" name="Shape 19"/>
          <p:cNvSpPr/>
          <p:nvPr/>
        </p:nvSpPr>
        <p:spPr>
          <a:xfrm>
            <a:off x="6199632" y="3630168"/>
            <a:ext cx="5349240" cy="1664208"/>
          </a:xfrm>
          <a:prstGeom prst="roundRect">
            <a:avLst>
              <a:gd name="adj" fmla="val 65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6428232" y="3858768"/>
            <a:ext cx="566928" cy="566928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5633" y="4006169"/>
            <a:ext cx="272125" cy="272125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159752" y="38496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หน้าจอไม่มีสี ตะกร้าอยู่ผิดที่</a:t>
            </a:r>
            <a:endParaRPr lang="th-TH" sz="1600" dirty="0"/>
          </a:p>
        </p:txBody>
      </p:sp>
      <p:sp>
        <p:nvSpPr>
          <p:cNvPr id="31" name="Text 22"/>
          <p:cNvSpPr txBox="1"/>
          <p:nvPr/>
        </p:nvSpPr>
        <p:spPr>
          <a:xfrm>
            <a:off x="7159752" y="42702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5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สาเหตุ: CSS เรียกตัวแปรที่ไม่เคยประกาศ</a:t>
            </a:r>
            <a:endParaRPr lang="th-TH" sz="12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9752" y="4727448"/>
            <a:ext cx="246888" cy="24688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498080" y="467258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เพิ่ม :root และ Layout 2 คอลัมน์</a:t>
            </a:r>
            <a:endParaRPr lang="th-TH" sz="1300" dirty="0"/>
          </a:p>
        </p:txBody>
      </p:sp>
      <p:sp>
        <p:nvSpPr>
          <p:cNvPr id="34" name="Shape 24"/>
          <p:cNvSpPr/>
          <p:nvPr/>
        </p:nvSpPr>
        <p:spPr>
          <a:xfrm>
            <a:off x="640080" y="5532120"/>
            <a:ext cx="10908792" cy="731520"/>
          </a:xfrm>
          <a:prstGeom prst="roundRect">
            <a:avLst>
              <a:gd name="adj" fmla="val 15000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914400" y="5532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โค้ดทำงานได้ในกรณีปกติ แต่พลาดใน </a:t>
            </a:r>
            <a:pPr indent="0" marL="0">
              <a:buNone/>
            </a:pPr>
            <a:r>
              <a:rPr lang="th-TH" alt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กรณีขอบ (Edge Case)</a:t>
            </a:r>
            <a:pPr indent="0" marL="0">
              <a:buNone/>
            </a:pPr>
            <a:r>
              <a:rPr lang="th-TH" altLang="en-US" sz="15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→ เราเขียน tests/test_logic.mjs ไว้รันซ้ำได้ทุกครั้ง</a:t>
            </a:r>
            <a:endParaRPr lang="th-TH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  ·  NEXT STEPS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ข้อจำกัดและแนวทางพัฒนาต่อ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011680"/>
            <a:ext cx="603504" cy="60350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311" y="2168591"/>
            <a:ext cx="289682" cy="28968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ข้อจำกัดตอนนี้</a:t>
            </a:r>
            <a:endParaRPr lang="th-TH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96265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2926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ยังจำลองการสแกนด้วยการคลิก</a:t>
            </a:r>
            <a:endParaRPr lang="th-TH" sz="14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" y="360273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ข้อมูลลูกค้า/ร้านในใบเสร็จเป็นค่าคงที่</a:t>
            </a:r>
            <a:endParaRPr lang="th-TH" sz="14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424281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0876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ยังไม่บันทึกประวัติการขาย เลขที่ใบเสร็จสุ่ม</a:t>
            </a:r>
            <a:endParaRPr lang="th-TH" sz="14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4882896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ตัดสต็อกตอนปิดใบเสร็จ ไม่ใช่ตอนชำระ</a:t>
            </a:r>
            <a:endParaRPr lang="th-TH" sz="14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5522976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508760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ยังไม่มี Login และใช้บัญชี root</a:t>
            </a:r>
            <a:endParaRPr lang="th-TH" sz="1450" dirty="0"/>
          </a:p>
        </p:txBody>
      </p:sp>
      <p:sp>
        <p:nvSpPr>
          <p:cNvPr id="20" name="Shape 12"/>
          <p:cNvSpPr/>
          <p:nvPr/>
        </p:nvSpPr>
        <p:spPr>
          <a:xfrm>
            <a:off x="6199632" y="1783080"/>
            <a:ext cx="5349240" cy="4434840"/>
          </a:xfrm>
          <a:prstGeom prst="roundRect">
            <a:avLst>
              <a:gd name="adj" fmla="val 2474"/>
            </a:avLst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6473952" y="2011680"/>
            <a:ext cx="603504" cy="603504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0863" y="2168591"/>
            <a:ext cx="289682" cy="28968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251192" y="2103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0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พัฒนาต่อ</a:t>
            </a:r>
            <a:endParaRPr lang="th-TH" sz="20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2962656"/>
            <a:ext cx="274320" cy="27432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068312" y="2926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รองรับเครื่องสแกนบาร์โค้ด USB</a:t>
            </a:r>
            <a:endParaRPr lang="th-TH" sz="145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602736"/>
            <a:ext cx="274320" cy="274320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7068312" y="3566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sales → รายงานยอดขายรายวัน</a:t>
            </a:r>
            <a:endParaRPr lang="th-TH" sz="145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42816"/>
            <a:ext cx="274320" cy="274320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068312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รับเงิน/ทอนเงิน พักบิล คืนสินค้า</a:t>
            </a:r>
            <a:endParaRPr lang="th-TH" sz="1450" dirty="0"/>
          </a:p>
        </p:txBody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80" y="4882896"/>
            <a:ext cx="274320" cy="274320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7068312" y="48463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ย้ายการตัดสต็อกไปตอนกดชำระเงิน</a:t>
            </a:r>
            <a:endParaRPr lang="th-TH" sz="145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83680" y="5522976"/>
            <a:ext cx="274320" cy="274320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7068312" y="5486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5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Login + ชำระด้วย QR พร้อมเพย์</a:t>
            </a:r>
            <a:endParaRPr lang="th-TH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b="1" spc="100" kern="0" dirty="0">
                <a:solidFill>
                  <a:srgbClr val="52B78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  ·  CONCLUSION</a:t>
            </a:r>
            <a:endParaRPr lang="th-TH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rgbClr val="163A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</a:t>
            </a:r>
            <a:endParaRPr lang="th-TH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ผู้นำเสนอ: นายภคพล</a:t>
            </a:r>
            <a:endParaRPr lang="th-TH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634472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5F6B6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 / 13</a:t>
            </a:r>
            <a:endParaRPr lang="th-TH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011680"/>
            <a:ext cx="731520" cy="73152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201875"/>
            <a:ext cx="351130" cy="3511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แก้ปัญหาธุรกิจได้</a:t>
            </a:r>
            <a:endParaRPr lang="th-TH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คิดเงินถูกต้อง รวดเร็ว ออกใบเสร็จ และตัดสต็อกอัตโนมัติ</a:t>
            </a:r>
            <a:endParaRPr lang="th-TH" sz="1300" dirty="0"/>
          </a:p>
        </p:txBody>
      </p:sp>
      <p:sp>
        <p:nvSpPr>
          <p:cNvPr id="11" name="Shape 8"/>
          <p:cNvSpPr/>
          <p:nvPr/>
        </p:nvSpPr>
        <p:spPr>
          <a:xfrm>
            <a:off x="4361688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36008" y="2011680"/>
            <a:ext cx="731520" cy="731520"/>
          </a:xfrm>
          <a:prstGeom prst="ellipse">
            <a:avLst/>
          </a:prstGeom>
          <a:solidFill>
            <a:srgbClr val="D8F3DC"/>
          </a:solidFill>
          <a:ln w="12700">
            <a:solidFill>
              <a:srgbClr val="D8F3D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203" y="220187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36008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b="1" dirty="0">
                <a:solidFill>
                  <a:srgbClr val="2D6A4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ช่วยได้จริง</a:t>
            </a:r>
            <a:endParaRPr lang="th-TH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636008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เริ่มงานเร็ว แบ่งโครงสร้างโค้ด อธิบายแนวคิดใหม่ให้เข้าใจ</a:t>
            </a:r>
            <a:endParaRPr lang="th-TH" sz="1300" dirty="0"/>
          </a:p>
        </p:txBody>
      </p:sp>
      <p:sp>
        <p:nvSpPr>
          <p:cNvPr id="16" name="Shape 12"/>
          <p:cNvSpPr/>
          <p:nvPr/>
        </p:nvSpPr>
        <p:spPr>
          <a:xfrm>
            <a:off x="8083296" y="178308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57616" y="2011680"/>
            <a:ext cx="731520" cy="731520"/>
          </a:xfrm>
          <a:prstGeom prst="ellipse">
            <a:avLst/>
          </a:prstGeom>
          <a:solidFill>
            <a:srgbClr val="FDECE7"/>
          </a:solidFill>
          <a:ln w="12700">
            <a:solidFill>
              <a:srgbClr val="FDECE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811" y="220187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57616" y="2880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900" b="1" dirty="0">
                <a:solidFill>
                  <a:srgbClr val="E76F5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แต่ต้องตรวจสอบ</a:t>
            </a:r>
            <a:endParaRPr lang="th-TH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8357616" y="32918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rgbClr val="1B1F2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พบ Bug กรณีขอบ 4 จุด แก้ได้เพราะเข้าใจโค้ดและทดสอบ</a:t>
            </a:r>
            <a:endParaRPr lang="th-TH" sz="1300" dirty="0"/>
          </a:p>
        </p:txBody>
      </p:sp>
      <p:sp>
        <p:nvSpPr>
          <p:cNvPr id="21" name="Shape 16"/>
          <p:cNvSpPr/>
          <p:nvPr/>
        </p:nvSpPr>
        <p:spPr>
          <a:xfrm>
            <a:off x="640080" y="4526280"/>
            <a:ext cx="10908792" cy="1691640"/>
          </a:xfrm>
          <a:prstGeom prst="roundRect">
            <a:avLst>
              <a:gd name="adj" fmla="val 6486"/>
            </a:avLst>
          </a:prstGeom>
          <a:solidFill>
            <a:srgbClr val="163A2E"/>
          </a:solidFill>
          <a:ln w="12700">
            <a:solidFill>
              <a:srgbClr val="163A2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0060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45920" y="4526280"/>
            <a:ext cx="9692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22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AI เป็นผู้ช่วยที่ดี แต่ผู้พัฒนาต้องเข้าใจโค้ด ทดสอบ และรับผิดชอบผลลัพธ์เอง</a:t>
            </a:r>
            <a:endParaRPr lang="th-TH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50408" y="1097280"/>
            <a:ext cx="1097280" cy="10972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5701" y="138257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2377440"/>
            <a:ext cx="9445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54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 – ตอบ</a:t>
            </a:r>
            <a:endParaRPr lang="th-TH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47472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24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</a:t>
            </a:r>
            <a:endParaRPr lang="th-TH" sz="2400" dirty="0"/>
          </a:p>
        </p:txBody>
      </p:sp>
      <p:sp>
        <p:nvSpPr>
          <p:cNvPr id="6" name="Shape 3"/>
          <p:cNvSpPr/>
          <p:nvPr/>
        </p:nvSpPr>
        <p:spPr>
          <a:xfrm>
            <a:off x="3108960" y="4434840"/>
            <a:ext cx="5971032" cy="640080"/>
          </a:xfrm>
          <a:prstGeom prst="roundRect">
            <a:avLst>
              <a:gd name="adj" fmla="val 5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4562856"/>
            <a:ext cx="384048" cy="384048"/>
          </a:xfrm>
          <a:prstGeom prst="rect">
            <a:avLst/>
          </a:prstGeom>
        </p:spPr>
      </p:pic>
      <p:sp>
        <p:nvSpPr>
          <p:cNvPr id="8" name="Text 4">
            <a:hlinkClick r:id="rId3" tooltip=""/>
          </p:cNvPr>
          <p:cNvSpPr txBox="1"/>
          <p:nvPr/>
        </p:nvSpPr>
        <p:spPr>
          <a:xfrm>
            <a:off x="3840480" y="44348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700" b="1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github.com/wittayaaasei-eng/thawirot-pos</a:t>
            </a:r>
            <a:endParaRPr lang="th-TH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371600" y="566928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300" dirty="0">
                <a:solidFill>
                  <a:srgbClr val="95D5B2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นายวิทยา 66541207018-7   ·   นายภคพล วราสินธ์ 66541207074-0</a:t>
            </a:r>
            <a:endParaRPr lang="th-TH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ระบบขายหน้าร้าน (POS) ตลาดสดทวีโรจน์</dc:title>
  <dc:subject>PptxGenJS Presentation</dc:subject>
  <dc:creator>นายวิทยา, นายภคพล วราสินธ์</dc:creator>
  <cp:lastModifiedBy>นายวิทยา, นายภคพล วราสินธ์</cp:lastModifiedBy>
  <cp:revision>1</cp:revision>
  <dcterms:created xsi:type="dcterms:W3CDTF">2026-09-27T10:52:39Z</dcterms:created>
  <dcterms:modified xsi:type="dcterms:W3CDTF">2026-09-27T10:52:39Z</dcterms:modified>
</cp:coreProperties>
</file>